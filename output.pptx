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ter"/>
      <p:regular r:id="rId27"/>
      <p:bold r:id="rId28"/>
      <p:italic r:id="rId29"/>
      <p:boldItalic r:id="rId30"/>
    </p:embeddedFont>
    <p:embeddedFont>
      <p:font typeface="Inter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font" Target="fonts/Inter-regular.fntdata"/><Relationship Id="rId28" Type="http://schemas.openxmlformats.org/officeDocument/2006/relationships/font" Target="fonts/Inter-bold.fntdata"/><Relationship Id="rId29" Type="http://schemas.openxmlformats.org/officeDocument/2006/relationships/font" Target="fonts/Inter-italic.fntdata"/><Relationship Id="rId30" Type="http://schemas.openxmlformats.org/officeDocument/2006/relationships/font" Target="fonts/Inter-boldItalic.fntdata"/><Relationship Id="rId31" Type="http://schemas.openxmlformats.org/officeDocument/2006/relationships/font" Target="fonts/InterMedium-regular.fntdata"/><Relationship Id="rId32" Type="http://schemas.openxmlformats.org/officeDocument/2006/relationships/font" Target="fonts/InterMedium-bold.fntdata"/><Relationship Id="rId33" Type="http://schemas.openxmlformats.org/officeDocument/2006/relationships/font" Target="fonts/InterMedium-italic.fntdata"/><Relationship Id="rId34"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b5f992a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b5f992a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b5f992ae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b5f992ae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Needed - </a:t>
            </a:r>
            <a:r>
              <a:rPr lang="en"/>
              <a:t>Reviewed </a:t>
            </a:r>
            <a:br>
              <a:rPr lang="en"/>
            </a:b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b5f992ae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b5f992ae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b5f992ae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2b5f992ae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b5f992ae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b5f992ae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Double check / See if needed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b5f992ae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2b5f992ae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a:t>
            </a:r>
            <a:r>
              <a:rPr lang="en">
                <a:solidFill>
                  <a:schemeClr val="dk1"/>
                </a:solidFill>
              </a:rPr>
              <a:t>Reviewed - is this metric counting comments and DMs together? </a:t>
            </a:r>
            <a:br>
              <a:rPr lang="en">
                <a:solidFill>
                  <a:schemeClr val="dk1"/>
                </a:solidFill>
              </a:rPr>
            </a:br>
            <a:r>
              <a:rPr lang="en">
                <a:solidFill>
                  <a:schemeClr val="dk1"/>
                </a:solidFill>
              </a:rPr>
              <a:t>Would it be possible to include the amount which was answered by the user (technical issues)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b5f992ae0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b5f992ae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b5f992ae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2b5f992ae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266ae68e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266ae68e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b5f992ae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b5f992ae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b5f992ae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2b5f992ae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b5f992ae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b5f992ae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b5f992ae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b5f992ae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7479e29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7479e29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0d4eb67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60d4eb67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0d4eb676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0d4eb676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60d4eb676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60d4eb676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0d4eb676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0d4eb676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95d7305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95d7305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0d4eb676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0d4eb676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60d4eb676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60d4eb676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worker">
  <p:cSld name="TITLE_2_3_1_1">
    <p:bg>
      <p:bgPr>
        <a:solidFill>
          <a:srgbClr val="F2F2F2"/>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180000" y="179972"/>
            <a:ext cx="547087" cy="114600"/>
          </a:xfrm>
          <a:prstGeom prst="rect">
            <a:avLst/>
          </a:prstGeom>
          <a:noFill/>
          <a:ln>
            <a:noFill/>
          </a:ln>
        </p:spPr>
      </p:pic>
      <p:sp>
        <p:nvSpPr>
          <p:cNvPr id="52" name="Google Shape;52;p13"/>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000000"/>
              </a:buClr>
              <a:buSzPts val="1800"/>
              <a:buNone/>
              <a:defRPr sz="1800">
                <a:solidFill>
                  <a:srgbClr val="000000"/>
                </a:solidFill>
              </a:defRPr>
            </a:lvl1pPr>
            <a:lvl2pPr lvl="1">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2pPr>
            <a:lvl3pPr lvl="2">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3pPr>
            <a:lvl4pPr lvl="3">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4pPr>
            <a:lvl5pPr lvl="4">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5pPr>
            <a:lvl6pPr lvl="5">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6pPr>
            <a:lvl7pPr lvl="6">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7pPr>
            <a:lvl8pPr lvl="7">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8pPr>
            <a:lvl9pPr lvl="8">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9pPr>
          </a:lstStyle>
          <a:p/>
        </p:txBody>
      </p:sp>
      <p:sp>
        <p:nvSpPr>
          <p:cNvPr id="53" name="Google Shape;53;p13"/>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a:solidFill>
                  <a:srgbClr val="000000"/>
                </a:solidFill>
                <a:latin typeface="Inter"/>
                <a:ea typeface="Inter"/>
                <a:cs typeface="Inter"/>
                <a:sym typeface="Inter"/>
              </a:defRPr>
            </a:lvl1pPr>
            <a:lvl2pPr lvl="1">
              <a:buNone/>
              <a:defRPr>
                <a:solidFill>
                  <a:srgbClr val="000000"/>
                </a:solidFill>
                <a:latin typeface="Inter"/>
                <a:ea typeface="Inter"/>
                <a:cs typeface="Inter"/>
                <a:sym typeface="Inter"/>
              </a:defRPr>
            </a:lvl2pPr>
            <a:lvl3pPr lvl="2">
              <a:buNone/>
              <a:defRPr>
                <a:solidFill>
                  <a:srgbClr val="000000"/>
                </a:solidFill>
                <a:latin typeface="Inter"/>
                <a:ea typeface="Inter"/>
                <a:cs typeface="Inter"/>
                <a:sym typeface="Inter"/>
              </a:defRPr>
            </a:lvl3pPr>
            <a:lvl4pPr lvl="3">
              <a:buNone/>
              <a:defRPr>
                <a:solidFill>
                  <a:srgbClr val="000000"/>
                </a:solidFill>
                <a:latin typeface="Inter"/>
                <a:ea typeface="Inter"/>
                <a:cs typeface="Inter"/>
                <a:sym typeface="Inter"/>
              </a:defRPr>
            </a:lvl4pPr>
            <a:lvl5pPr lvl="4">
              <a:buNone/>
              <a:defRPr>
                <a:solidFill>
                  <a:srgbClr val="000000"/>
                </a:solidFill>
                <a:latin typeface="Inter"/>
                <a:ea typeface="Inter"/>
                <a:cs typeface="Inter"/>
                <a:sym typeface="Inter"/>
              </a:defRPr>
            </a:lvl5pPr>
            <a:lvl6pPr lvl="5">
              <a:buNone/>
              <a:defRPr>
                <a:solidFill>
                  <a:srgbClr val="000000"/>
                </a:solidFill>
                <a:latin typeface="Inter"/>
                <a:ea typeface="Inter"/>
                <a:cs typeface="Inter"/>
                <a:sym typeface="Inter"/>
              </a:defRPr>
            </a:lvl6pPr>
            <a:lvl7pPr lvl="6">
              <a:buNone/>
              <a:defRPr>
                <a:solidFill>
                  <a:srgbClr val="000000"/>
                </a:solidFill>
                <a:latin typeface="Inter"/>
                <a:ea typeface="Inter"/>
                <a:cs typeface="Inter"/>
                <a:sym typeface="Inter"/>
              </a:defRPr>
            </a:lvl7pPr>
            <a:lvl8pPr lvl="7">
              <a:buNone/>
              <a:defRPr>
                <a:solidFill>
                  <a:srgbClr val="000000"/>
                </a:solidFill>
                <a:latin typeface="Inter"/>
                <a:ea typeface="Inter"/>
                <a:cs typeface="Inter"/>
                <a:sym typeface="Inter"/>
              </a:defRPr>
            </a:lvl8pPr>
            <a:lvl9pPr lvl="8">
              <a:buNone/>
              <a:defRPr>
                <a:solidFill>
                  <a:srgbClr val="000000"/>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 type="body"/>
          </p:nvPr>
        </p:nvSpPr>
        <p:spPr>
          <a:xfrm>
            <a:off x="4572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
        <p:nvSpPr>
          <p:cNvPr id="55" name="Google Shape;55;p13"/>
          <p:cNvSpPr txBox="1"/>
          <p:nvPr>
            <p:ph idx="2" type="subTitle"/>
          </p:nvPr>
        </p:nvSpPr>
        <p:spPr>
          <a:xfrm>
            <a:off x="4561325" y="2896500"/>
            <a:ext cx="2160000" cy="257700"/>
          </a:xfrm>
          <a:prstGeom prst="rect">
            <a:avLst/>
          </a:prstGeom>
        </p:spPr>
        <p:txBody>
          <a:bodyPr anchorCtr="0" anchor="t" bIns="0" lIns="0" spcFirstLastPara="1" rIns="7200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6" name="Google Shape;56;p13"/>
          <p:cNvSpPr txBox="1"/>
          <p:nvPr>
            <p:ph idx="3" type="subTitle"/>
          </p:nvPr>
        </p:nvSpPr>
        <p:spPr>
          <a:xfrm>
            <a:off x="6804000" y="2896500"/>
            <a:ext cx="2160000" cy="257700"/>
          </a:xfrm>
          <a:prstGeom prst="rect">
            <a:avLst/>
          </a:prstGeom>
        </p:spPr>
        <p:txBody>
          <a:bodyPr anchorCtr="0" anchor="t" bIns="0" lIns="0" spcFirstLastPara="1" rIns="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7" name="Google Shape;57;p13"/>
          <p:cNvSpPr/>
          <p:nvPr>
            <p:ph idx="4" type="pic"/>
          </p:nvPr>
        </p:nvSpPr>
        <p:spPr>
          <a:xfrm>
            <a:off x="4572000" y="540000"/>
            <a:ext cx="2196000" cy="2196000"/>
          </a:xfrm>
          <a:prstGeom prst="rect">
            <a:avLst/>
          </a:prstGeom>
          <a:noFill/>
          <a:ln>
            <a:noFill/>
          </a:ln>
        </p:spPr>
      </p:sp>
      <p:sp>
        <p:nvSpPr>
          <p:cNvPr id="58" name="Google Shape;58;p13"/>
          <p:cNvSpPr/>
          <p:nvPr>
            <p:ph idx="5" type="pic"/>
          </p:nvPr>
        </p:nvSpPr>
        <p:spPr>
          <a:xfrm>
            <a:off x="6804000" y="540000"/>
            <a:ext cx="2160000" cy="2196000"/>
          </a:xfrm>
          <a:prstGeom prst="rect">
            <a:avLst/>
          </a:prstGeom>
          <a:noFill/>
          <a:ln>
            <a:noFill/>
          </a:ln>
        </p:spPr>
      </p:sp>
      <p:sp>
        <p:nvSpPr>
          <p:cNvPr id="59" name="Google Shape;59;p13"/>
          <p:cNvSpPr txBox="1"/>
          <p:nvPr>
            <p:ph idx="6" type="body"/>
          </p:nvPr>
        </p:nvSpPr>
        <p:spPr>
          <a:xfrm>
            <a:off x="6804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1 - Header 2 - Blue">
  <p:cSld name="TITLE_3_1">
    <p:bg>
      <p:bgPr>
        <a:solidFill>
          <a:srgbClr val="0B1F31"/>
        </a:solid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FFFFFF"/>
              </a:buClr>
              <a:buSzPts val="4800"/>
              <a:buFont typeface="Inter"/>
              <a:buNone/>
              <a:defRPr sz="4800">
                <a:solidFill>
                  <a:srgbClr val="FFFFFF"/>
                </a:solidFill>
                <a:latin typeface="Inter"/>
                <a:ea typeface="Inter"/>
                <a:cs typeface="Inter"/>
                <a:sym typeface="Inter"/>
              </a:defRPr>
            </a:lvl1pPr>
            <a:lvl2pPr lvl="1">
              <a:spcBef>
                <a:spcPts val="0"/>
              </a:spcBef>
              <a:spcAft>
                <a:spcPts val="0"/>
              </a:spcAft>
              <a:buClr>
                <a:srgbClr val="FFFFFF"/>
              </a:buClr>
              <a:buSzPts val="4800"/>
              <a:buNone/>
              <a:defRPr sz="4800">
                <a:solidFill>
                  <a:srgbClr val="FFFFFF"/>
                </a:solidFill>
              </a:defRPr>
            </a:lvl2pPr>
            <a:lvl3pPr lvl="2">
              <a:spcBef>
                <a:spcPts val="0"/>
              </a:spcBef>
              <a:spcAft>
                <a:spcPts val="0"/>
              </a:spcAft>
              <a:buClr>
                <a:srgbClr val="FFFFFF"/>
              </a:buClr>
              <a:buSzPts val="4800"/>
              <a:buNone/>
              <a:defRPr sz="4800">
                <a:solidFill>
                  <a:srgbClr val="FFFFFF"/>
                </a:solidFill>
              </a:defRPr>
            </a:lvl3pPr>
            <a:lvl4pPr lvl="3">
              <a:spcBef>
                <a:spcPts val="0"/>
              </a:spcBef>
              <a:spcAft>
                <a:spcPts val="0"/>
              </a:spcAft>
              <a:buClr>
                <a:srgbClr val="FFFFFF"/>
              </a:buClr>
              <a:buSzPts val="4800"/>
              <a:buNone/>
              <a:defRPr sz="4800">
                <a:solidFill>
                  <a:srgbClr val="FFFFFF"/>
                </a:solidFill>
              </a:defRPr>
            </a:lvl4pPr>
            <a:lvl5pPr lvl="4">
              <a:spcBef>
                <a:spcPts val="0"/>
              </a:spcBef>
              <a:spcAft>
                <a:spcPts val="0"/>
              </a:spcAft>
              <a:buClr>
                <a:srgbClr val="FFFFFF"/>
              </a:buClr>
              <a:buSzPts val="4800"/>
              <a:buNone/>
              <a:defRPr sz="4800">
                <a:solidFill>
                  <a:srgbClr val="FFFFFF"/>
                </a:solidFill>
              </a:defRPr>
            </a:lvl5pPr>
            <a:lvl6pPr lvl="5">
              <a:spcBef>
                <a:spcPts val="0"/>
              </a:spcBef>
              <a:spcAft>
                <a:spcPts val="0"/>
              </a:spcAft>
              <a:buClr>
                <a:srgbClr val="FFFFFF"/>
              </a:buClr>
              <a:buSzPts val="4800"/>
              <a:buNone/>
              <a:defRPr sz="4800">
                <a:solidFill>
                  <a:srgbClr val="FFFFFF"/>
                </a:solidFill>
              </a:defRPr>
            </a:lvl6pPr>
            <a:lvl7pPr lvl="6">
              <a:spcBef>
                <a:spcPts val="0"/>
              </a:spcBef>
              <a:spcAft>
                <a:spcPts val="0"/>
              </a:spcAft>
              <a:buClr>
                <a:srgbClr val="FFFFFF"/>
              </a:buClr>
              <a:buSzPts val="4800"/>
              <a:buNone/>
              <a:defRPr sz="4800">
                <a:solidFill>
                  <a:srgbClr val="FFFFFF"/>
                </a:solidFill>
              </a:defRPr>
            </a:lvl7pPr>
            <a:lvl8pPr lvl="7">
              <a:spcBef>
                <a:spcPts val="0"/>
              </a:spcBef>
              <a:spcAft>
                <a:spcPts val="0"/>
              </a:spcAft>
              <a:buClr>
                <a:srgbClr val="FFFFFF"/>
              </a:buClr>
              <a:buSzPts val="4800"/>
              <a:buNone/>
              <a:defRPr sz="4800">
                <a:solidFill>
                  <a:srgbClr val="FFFFFF"/>
                </a:solidFill>
              </a:defRPr>
            </a:lvl8pPr>
            <a:lvl9pPr lvl="8">
              <a:spcBef>
                <a:spcPts val="0"/>
              </a:spcBef>
              <a:spcAft>
                <a:spcPts val="0"/>
              </a:spcAft>
              <a:buClr>
                <a:srgbClr val="FFFFFF"/>
              </a:buClr>
              <a:buSzPts val="4800"/>
              <a:buNone/>
              <a:defRPr sz="4800">
                <a:solidFill>
                  <a:srgbClr val="FFFFFF"/>
                </a:solidFill>
              </a:defRPr>
            </a:lvl9pPr>
          </a:lstStyle>
          <a:p/>
        </p:txBody>
      </p:sp>
      <p:sp>
        <p:nvSpPr>
          <p:cNvPr id="62" name="Google Shape;62;p14"/>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u="sng"/>
            </a:lvl1pPr>
            <a:lvl2pPr lvl="1">
              <a:buNone/>
              <a:defRPr u="sng"/>
            </a:lvl2pPr>
            <a:lvl3pPr lvl="2">
              <a:buNone/>
              <a:defRPr u="sng"/>
            </a:lvl3pPr>
            <a:lvl4pPr lvl="3">
              <a:buNone/>
              <a:defRPr u="sng"/>
            </a:lvl4pPr>
            <a:lvl5pPr lvl="4">
              <a:buNone/>
              <a:defRPr u="sng"/>
            </a:lvl5pPr>
            <a:lvl6pPr lvl="5">
              <a:buNone/>
              <a:defRPr u="sng"/>
            </a:lvl6pPr>
            <a:lvl7pPr lvl="6">
              <a:buNone/>
              <a:defRPr u="sng"/>
            </a:lvl7pPr>
            <a:lvl8pPr lvl="7">
              <a:buNone/>
              <a:defRPr u="sng"/>
            </a:lvl8pPr>
            <a:lvl9pPr lvl="8">
              <a:buNone/>
              <a:defRPr u="sng"/>
            </a:lvl9pPr>
          </a:lstStyle>
          <a:p>
            <a:pPr indent="0" lvl="0" marL="0" rtl="0" algn="r">
              <a:spcBef>
                <a:spcPts val="0"/>
              </a:spcBef>
              <a:spcAft>
                <a:spcPts val="0"/>
              </a:spcAft>
              <a:buNone/>
            </a:pPr>
            <a:fld id="{00000000-1234-1234-1234-123412341234}" type="slidenum">
              <a:rPr lang="en"/>
              <a:t>‹#›</a:t>
            </a:fld>
            <a:endParaRPr u="none"/>
          </a:p>
        </p:txBody>
      </p:sp>
      <p:sp>
        <p:nvSpPr>
          <p:cNvPr id="63" name="Google Shape;63;p14"/>
          <p:cNvSpPr txBox="1"/>
          <p:nvPr>
            <p:ph idx="1" type="subTitle"/>
          </p:nvPr>
        </p:nvSpPr>
        <p:spPr>
          <a:xfrm>
            <a:off x="4572000" y="539900"/>
            <a:ext cx="4392000" cy="4423500"/>
          </a:xfrm>
          <a:prstGeom prst="rect">
            <a:avLst/>
          </a:prstGeom>
        </p:spPr>
        <p:txBody>
          <a:bodyPr anchorCtr="0" anchor="t" bIns="0" lIns="72000" spcFirstLastPara="1" rIns="0" wrap="square" tIns="0">
            <a:normAutofit/>
          </a:bodyPr>
          <a:lstStyle>
            <a:lvl1pPr lvl="0">
              <a:lnSpc>
                <a:spcPct val="90000"/>
              </a:lnSpc>
              <a:spcBef>
                <a:spcPts val="0"/>
              </a:spcBef>
              <a:spcAft>
                <a:spcPts val="0"/>
              </a:spcAft>
              <a:buClr>
                <a:srgbClr val="FFFFFF"/>
              </a:buClr>
              <a:buSzPts val="1800"/>
              <a:buFont typeface="Inter"/>
              <a:buNone/>
              <a:defRPr sz="1800">
                <a:solidFill>
                  <a:srgbClr val="FFFFFF"/>
                </a:solidFill>
                <a:latin typeface="Inter"/>
                <a:ea typeface="Inter"/>
                <a:cs typeface="Inter"/>
                <a:sym typeface="Inter"/>
              </a:defRPr>
            </a:lvl1pPr>
            <a:lvl2pPr lvl="1">
              <a:spcBef>
                <a:spcPts val="0"/>
              </a:spcBef>
              <a:spcAft>
                <a:spcPts val="0"/>
              </a:spcAft>
              <a:buClr>
                <a:srgbClr val="FFFFFF"/>
              </a:buClr>
              <a:buSzPts val="1400"/>
              <a:buNone/>
              <a:defRPr>
                <a:solidFill>
                  <a:srgbClr val="FFFFFF"/>
                </a:solidFill>
              </a:defRPr>
            </a:lvl2pPr>
            <a:lvl3pPr lvl="2">
              <a:spcBef>
                <a:spcPts val="0"/>
              </a:spcBef>
              <a:spcAft>
                <a:spcPts val="0"/>
              </a:spcAft>
              <a:buClr>
                <a:srgbClr val="FFFFFF"/>
              </a:buClr>
              <a:buSzPts val="1400"/>
              <a:buNone/>
              <a:defRPr>
                <a:solidFill>
                  <a:srgbClr val="FFFFFF"/>
                </a:solidFill>
              </a:defRPr>
            </a:lvl3pPr>
            <a:lvl4pPr lvl="3">
              <a:spcBef>
                <a:spcPts val="0"/>
              </a:spcBef>
              <a:spcAft>
                <a:spcPts val="0"/>
              </a:spcAft>
              <a:buClr>
                <a:srgbClr val="FFFFFF"/>
              </a:buClr>
              <a:buSzPts val="1400"/>
              <a:buNone/>
              <a:defRPr>
                <a:solidFill>
                  <a:srgbClr val="FFFFFF"/>
                </a:solidFill>
              </a:defRPr>
            </a:lvl4pPr>
            <a:lvl5pPr lvl="4">
              <a:spcBef>
                <a:spcPts val="0"/>
              </a:spcBef>
              <a:spcAft>
                <a:spcPts val="0"/>
              </a:spcAft>
              <a:buClr>
                <a:srgbClr val="FFFFFF"/>
              </a:buClr>
              <a:buSzPts val="1400"/>
              <a:buNone/>
              <a:defRPr>
                <a:solidFill>
                  <a:srgbClr val="FFFFFF"/>
                </a:solidFill>
              </a:defRPr>
            </a:lvl5pPr>
            <a:lvl6pPr lvl="5">
              <a:spcBef>
                <a:spcPts val="0"/>
              </a:spcBef>
              <a:spcAft>
                <a:spcPts val="0"/>
              </a:spcAft>
              <a:buClr>
                <a:srgbClr val="FFFFFF"/>
              </a:buClr>
              <a:buSzPts val="1400"/>
              <a:buNone/>
              <a:defRPr>
                <a:solidFill>
                  <a:srgbClr val="FFFFFF"/>
                </a:solidFill>
              </a:defRPr>
            </a:lvl6pPr>
            <a:lvl7pPr lvl="6">
              <a:spcBef>
                <a:spcPts val="0"/>
              </a:spcBef>
              <a:spcAft>
                <a:spcPts val="0"/>
              </a:spcAft>
              <a:buClr>
                <a:srgbClr val="FFFFFF"/>
              </a:buClr>
              <a:buSzPts val="1400"/>
              <a:buNone/>
              <a:defRPr>
                <a:solidFill>
                  <a:srgbClr val="FFFFFF"/>
                </a:solidFill>
              </a:defRPr>
            </a:lvl7pPr>
            <a:lvl8pPr lvl="7">
              <a:spcBef>
                <a:spcPts val="0"/>
              </a:spcBef>
              <a:spcAft>
                <a:spcPts val="0"/>
              </a:spcAft>
              <a:buClr>
                <a:srgbClr val="FFFFFF"/>
              </a:buClr>
              <a:buSzPts val="1400"/>
              <a:buNone/>
              <a:defRPr>
                <a:solidFill>
                  <a:srgbClr val="FFFFFF"/>
                </a:solidFill>
              </a:defRPr>
            </a:lvl8pPr>
            <a:lvl9pPr lvl="8">
              <a:spcBef>
                <a:spcPts val="0"/>
              </a:spcBef>
              <a:spcAft>
                <a:spcPts val="0"/>
              </a:spcAft>
              <a:buClr>
                <a:srgbClr val="FFFFFF"/>
              </a:buClr>
              <a:buSzPts val="1400"/>
              <a:buNone/>
              <a:defRPr>
                <a:solidFill>
                  <a:srgbClr val="FFFFFF"/>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4" name="Shape 64"/>
        <p:cNvGrpSpPr/>
        <p:nvPr/>
      </p:nvGrpSpPr>
      <p:grpSpPr>
        <a:xfrm>
          <a:off x="0" y="0"/>
          <a:ext cx="0" cy="0"/>
          <a:chOff x="0" y="0"/>
          <a:chExt cx="0" cy="0"/>
        </a:xfrm>
      </p:grpSpPr>
      <p:sp>
        <p:nvSpPr>
          <p:cNvPr id="65" name="Google Shape;65;p15"/>
          <p:cNvSpPr txBox="1"/>
          <p:nvPr>
            <p:ph type="title"/>
          </p:nvPr>
        </p:nvSpPr>
        <p:spPr>
          <a:xfrm>
            <a:off x="3199470" y="559375"/>
            <a:ext cx="2745000" cy="843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b="1" i="0" sz="3100">
                <a:solidFill>
                  <a:schemeClr val="lt1"/>
                </a:solidFill>
                <a:latin typeface="Arial"/>
                <a:ea typeface="Arial"/>
                <a:cs typeface="Arial"/>
                <a:sym typeface="Aria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6" name="Google Shape;66;p15"/>
          <p:cNvSpPr txBox="1"/>
          <p:nvPr>
            <p:ph idx="1" type="body"/>
          </p:nvPr>
        </p:nvSpPr>
        <p:spPr>
          <a:xfrm>
            <a:off x="337123" y="1048795"/>
            <a:ext cx="3658200" cy="1851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600"/>
              <a:buNone/>
              <a:defRPr b="1" i="0" sz="900">
                <a:solidFill>
                  <a:srgbClr val="1E3146"/>
                </a:solidFill>
                <a:latin typeface="Arial"/>
                <a:ea typeface="Arial"/>
                <a:cs typeface="Arial"/>
                <a:sym typeface="Arial"/>
              </a:defRPr>
            </a:lvl1pPr>
            <a:lvl2pPr indent="-228600" lvl="1" marL="914400" algn="l">
              <a:lnSpc>
                <a:spcPct val="100000"/>
              </a:lnSpc>
              <a:spcBef>
                <a:spcPts val="0"/>
              </a:spcBef>
              <a:spcAft>
                <a:spcPts val="0"/>
              </a:spcAft>
              <a:buSzPts val="600"/>
              <a:buNone/>
              <a:defRPr/>
            </a:lvl2pPr>
            <a:lvl3pPr indent="-228600" lvl="2" marL="1371600" algn="l">
              <a:lnSpc>
                <a:spcPct val="100000"/>
              </a:lnSpc>
              <a:spcBef>
                <a:spcPts val="0"/>
              </a:spcBef>
              <a:spcAft>
                <a:spcPts val="0"/>
              </a:spcAft>
              <a:buSzPts val="600"/>
              <a:buNone/>
              <a:defRPr/>
            </a:lvl3pPr>
            <a:lvl4pPr indent="-228600" lvl="3" marL="1828800" algn="l">
              <a:lnSpc>
                <a:spcPct val="100000"/>
              </a:lnSpc>
              <a:spcBef>
                <a:spcPts val="0"/>
              </a:spcBef>
              <a:spcAft>
                <a:spcPts val="0"/>
              </a:spcAft>
              <a:buSzPts val="600"/>
              <a:buNone/>
              <a:defRPr/>
            </a:lvl4pPr>
            <a:lvl5pPr indent="-228600" lvl="4" marL="2286000" algn="l">
              <a:lnSpc>
                <a:spcPct val="100000"/>
              </a:lnSpc>
              <a:spcBef>
                <a:spcPts val="0"/>
              </a:spcBef>
              <a:spcAft>
                <a:spcPts val="0"/>
              </a:spcAft>
              <a:buSzPts val="600"/>
              <a:buNone/>
              <a:defRPr/>
            </a:lvl5pPr>
            <a:lvl6pPr indent="-228600" lvl="5" marL="2743200" algn="l">
              <a:lnSpc>
                <a:spcPct val="100000"/>
              </a:lnSpc>
              <a:spcBef>
                <a:spcPts val="0"/>
              </a:spcBef>
              <a:spcAft>
                <a:spcPts val="0"/>
              </a:spcAft>
              <a:buSzPts val="600"/>
              <a:buNone/>
              <a:defRPr/>
            </a:lvl6pPr>
            <a:lvl7pPr indent="-228600" lvl="6" marL="3200400" algn="l">
              <a:lnSpc>
                <a:spcPct val="100000"/>
              </a:lnSpc>
              <a:spcBef>
                <a:spcPts val="0"/>
              </a:spcBef>
              <a:spcAft>
                <a:spcPts val="0"/>
              </a:spcAft>
              <a:buSzPts val="600"/>
              <a:buNone/>
              <a:defRPr/>
            </a:lvl7pPr>
            <a:lvl8pPr indent="-228600" lvl="7" marL="3657600" algn="l">
              <a:lnSpc>
                <a:spcPct val="100000"/>
              </a:lnSpc>
              <a:spcBef>
                <a:spcPts val="0"/>
              </a:spcBef>
              <a:spcAft>
                <a:spcPts val="0"/>
              </a:spcAft>
              <a:buSzPts val="600"/>
              <a:buNone/>
              <a:defRPr/>
            </a:lvl8pPr>
            <a:lvl9pPr indent="-228600" lvl="8" marL="4114800" algn="l">
              <a:lnSpc>
                <a:spcPct val="100000"/>
              </a:lnSpc>
              <a:spcBef>
                <a:spcPts val="0"/>
              </a:spcBef>
              <a:spcAft>
                <a:spcPts val="0"/>
              </a:spcAft>
              <a:buSzPts val="600"/>
              <a:buNone/>
              <a:defRPr/>
            </a:lvl9pPr>
          </a:lstStyle>
          <a:p/>
        </p:txBody>
      </p:sp>
      <p:sp>
        <p:nvSpPr>
          <p:cNvPr id="67" name="Google Shape;67;p15"/>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8" name="Google Shape;68;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9" name="Google Shape;69;p15"/>
          <p:cNvSpPr txBox="1"/>
          <p:nvPr>
            <p:ph idx="12" type="sldNum"/>
          </p:nvPr>
        </p:nvSpPr>
        <p:spPr>
          <a:xfrm>
            <a:off x="83697" y="4980756"/>
            <a:ext cx="156900" cy="123000"/>
          </a:xfrm>
          <a:prstGeom prst="rect">
            <a:avLst/>
          </a:prstGeom>
          <a:noFill/>
          <a:ln>
            <a:noFill/>
          </a:ln>
        </p:spPr>
        <p:txBody>
          <a:bodyPr anchorCtr="0" anchor="t" bIns="0" lIns="0" spcFirstLastPara="1" rIns="0" wrap="square" tIns="0">
            <a:spAutoFit/>
          </a:bodyPr>
          <a:lstStyle>
            <a:lvl1pPr indent="0" lvl="0"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1pPr>
            <a:lvl2pPr indent="0" lvl="1"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2pPr>
            <a:lvl3pPr indent="0" lvl="2"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3pPr>
            <a:lvl4pPr indent="0" lvl="3"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4pPr>
            <a:lvl5pPr indent="0" lvl="4"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5pPr>
            <a:lvl6pPr indent="0" lvl="5"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6pPr>
            <a:lvl7pPr indent="0" lvl="6"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7pPr>
            <a:lvl8pPr indent="0" lvl="7"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8pPr>
            <a:lvl9pPr indent="0" lvl="8"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5">
  <p:cSld name="BLANK_2_1_1_1">
    <p:spTree>
      <p:nvGrpSpPr>
        <p:cNvPr id="70" name="Shape 70"/>
        <p:cNvGrpSpPr/>
        <p:nvPr/>
      </p:nvGrpSpPr>
      <p:grpSpPr>
        <a:xfrm>
          <a:off x="0" y="0"/>
          <a:ext cx="0" cy="0"/>
          <a:chOff x="0" y="0"/>
          <a:chExt cx="0" cy="0"/>
        </a:xfrm>
      </p:grpSpPr>
      <p:sp>
        <p:nvSpPr>
          <p:cNvPr id="71" name="Google Shape;71;p16"/>
          <p:cNvSpPr txBox="1"/>
          <p:nvPr>
            <p:ph idx="12" type="sldNum"/>
          </p:nvPr>
        </p:nvSpPr>
        <p:spPr>
          <a:xfrm>
            <a:off x="8472458" y="4663217"/>
            <a:ext cx="548700" cy="123000"/>
          </a:xfrm>
          <a:prstGeom prst="rect">
            <a:avLst/>
          </a:prstGeom>
        </p:spPr>
        <p:txBody>
          <a:bodyPr anchorCtr="0" anchor="ctr" bIns="91425" lIns="91425" spcFirstLastPara="1" rIns="91425" wrap="square" tIns="9142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title="t"/>
          <p:cNvSpPr txBox="1"/>
          <p:nvPr>
            <p:ph type="ctrTitle"/>
          </p:nvPr>
        </p:nvSpPr>
        <p:spPr>
          <a:xfrm>
            <a:off x="675900" y="2150325"/>
            <a:ext cx="8156400" cy="663300"/>
          </a:xfrm>
          <a:prstGeom prst="rect">
            <a:avLst/>
          </a:prstGeom>
        </p:spPr>
        <p:txBody>
          <a:bodyPr anchorCtr="0" anchor="ctr" bIns="0" lIns="91425" spcFirstLastPara="1" rIns="91425" wrap="square" tIns="0">
            <a:normAutofit/>
          </a:bodyPr>
          <a:lstStyle>
            <a:lvl1pPr lvl="0">
              <a:lnSpc>
                <a:spcPct val="85000"/>
              </a:lnSpc>
              <a:spcBef>
                <a:spcPts val="0"/>
              </a:spcBef>
              <a:spcAft>
                <a:spcPts val="0"/>
              </a:spcAft>
              <a:buClr>
                <a:srgbClr val="FFFFFF"/>
              </a:buClr>
              <a:buSzPts val="6000"/>
              <a:buNone/>
              <a:defRPr sz="6000">
                <a:solidFill>
                  <a:srgbClr val="FFFFFF"/>
                </a:solidFill>
              </a:defRPr>
            </a:lvl1pPr>
            <a:lvl2pPr lvl="1">
              <a:lnSpc>
                <a:spcPct val="85000"/>
              </a:lnSpc>
              <a:spcBef>
                <a:spcPts val="0"/>
              </a:spcBef>
              <a:spcAft>
                <a:spcPts val="0"/>
              </a:spcAft>
              <a:buClr>
                <a:srgbClr val="FFFFFF"/>
              </a:buClr>
              <a:buSzPts val="6000"/>
              <a:buNone/>
              <a:defRPr sz="6000">
                <a:solidFill>
                  <a:srgbClr val="FFFFFF"/>
                </a:solidFill>
              </a:defRPr>
            </a:lvl2pPr>
            <a:lvl3pPr lvl="2">
              <a:lnSpc>
                <a:spcPct val="85000"/>
              </a:lnSpc>
              <a:spcBef>
                <a:spcPts val="0"/>
              </a:spcBef>
              <a:spcAft>
                <a:spcPts val="0"/>
              </a:spcAft>
              <a:buClr>
                <a:srgbClr val="FFFFFF"/>
              </a:buClr>
              <a:buSzPts val="6000"/>
              <a:buNone/>
              <a:defRPr sz="6000">
                <a:solidFill>
                  <a:srgbClr val="FFFFFF"/>
                </a:solidFill>
              </a:defRPr>
            </a:lvl3pPr>
            <a:lvl4pPr lvl="3">
              <a:lnSpc>
                <a:spcPct val="85000"/>
              </a:lnSpc>
              <a:spcBef>
                <a:spcPts val="0"/>
              </a:spcBef>
              <a:spcAft>
                <a:spcPts val="0"/>
              </a:spcAft>
              <a:buClr>
                <a:srgbClr val="FFFFFF"/>
              </a:buClr>
              <a:buSzPts val="6000"/>
              <a:buNone/>
              <a:defRPr sz="6000">
                <a:solidFill>
                  <a:srgbClr val="FFFFFF"/>
                </a:solidFill>
              </a:defRPr>
            </a:lvl4pPr>
            <a:lvl5pPr lvl="4">
              <a:lnSpc>
                <a:spcPct val="85000"/>
              </a:lnSpc>
              <a:spcBef>
                <a:spcPts val="0"/>
              </a:spcBef>
              <a:spcAft>
                <a:spcPts val="0"/>
              </a:spcAft>
              <a:buClr>
                <a:srgbClr val="FFFFFF"/>
              </a:buClr>
              <a:buSzPts val="6000"/>
              <a:buNone/>
              <a:defRPr sz="6000">
                <a:solidFill>
                  <a:srgbClr val="FFFFFF"/>
                </a:solidFill>
              </a:defRPr>
            </a:lvl5pPr>
            <a:lvl6pPr lvl="5">
              <a:lnSpc>
                <a:spcPct val="85000"/>
              </a:lnSpc>
              <a:spcBef>
                <a:spcPts val="0"/>
              </a:spcBef>
              <a:spcAft>
                <a:spcPts val="0"/>
              </a:spcAft>
              <a:buClr>
                <a:srgbClr val="FFFFFF"/>
              </a:buClr>
              <a:buSzPts val="6000"/>
              <a:buNone/>
              <a:defRPr sz="6000">
                <a:solidFill>
                  <a:srgbClr val="FFFFFF"/>
                </a:solidFill>
              </a:defRPr>
            </a:lvl6pPr>
            <a:lvl7pPr lvl="6">
              <a:lnSpc>
                <a:spcPct val="85000"/>
              </a:lnSpc>
              <a:spcBef>
                <a:spcPts val="0"/>
              </a:spcBef>
              <a:spcAft>
                <a:spcPts val="0"/>
              </a:spcAft>
              <a:buClr>
                <a:srgbClr val="FFFFFF"/>
              </a:buClr>
              <a:buSzPts val="6000"/>
              <a:buNone/>
              <a:defRPr sz="6000">
                <a:solidFill>
                  <a:srgbClr val="FFFFFF"/>
                </a:solidFill>
              </a:defRPr>
            </a:lvl7pPr>
            <a:lvl8pPr lvl="7">
              <a:lnSpc>
                <a:spcPct val="85000"/>
              </a:lnSpc>
              <a:spcBef>
                <a:spcPts val="0"/>
              </a:spcBef>
              <a:spcAft>
                <a:spcPts val="0"/>
              </a:spcAft>
              <a:buClr>
                <a:srgbClr val="FFFFFF"/>
              </a:buClr>
              <a:buSzPts val="6000"/>
              <a:buNone/>
              <a:defRPr sz="6000">
                <a:solidFill>
                  <a:srgbClr val="FFFFFF"/>
                </a:solidFill>
              </a:defRPr>
            </a:lvl8pPr>
            <a:lvl9pPr lvl="8">
              <a:lnSpc>
                <a:spcPct val="85000"/>
              </a:lnSpc>
              <a:spcBef>
                <a:spcPts val="0"/>
              </a:spcBef>
              <a:spcAft>
                <a:spcPts val="0"/>
              </a:spcAft>
              <a:buClr>
                <a:srgbClr val="FFFFFF"/>
              </a:buClr>
              <a:buSzPts val="6000"/>
              <a:buNone/>
              <a:defRPr sz="6000">
                <a:solidFill>
                  <a:srgbClr val="FFFFFF"/>
                </a:solidFill>
              </a:defRPr>
            </a:lvl9pPr>
          </a:lstStyle>
          <a:p/>
        </p:txBody>
      </p:sp>
      <p:sp>
        <p:nvSpPr>
          <p:cNvPr id="73" name="Google Shape;73;p16"/>
          <p:cNvSpPr txBox="1"/>
          <p:nvPr>
            <p:ph idx="1" type="subTitle"/>
          </p:nvPr>
        </p:nvSpPr>
        <p:spPr>
          <a:xfrm>
            <a:off x="675900" y="2813625"/>
            <a:ext cx="8156400" cy="792600"/>
          </a:xfrm>
          <a:prstGeom prst="rect">
            <a:avLst/>
          </a:prstGeom>
        </p:spPr>
        <p:txBody>
          <a:bodyPr anchorCtr="0" anchor="t" bIns="0" lIns="91425" spcFirstLastPara="1" rIns="91425" wrap="square" tIns="0">
            <a:normAutofit/>
          </a:bodyPr>
          <a:lstStyle>
            <a:lvl1pPr lvl="0">
              <a:lnSpc>
                <a:spcPct val="85000"/>
              </a:lnSpc>
              <a:spcBef>
                <a:spcPts val="0"/>
              </a:spcBef>
              <a:spcAft>
                <a:spcPts val="0"/>
              </a:spcAft>
              <a:buClr>
                <a:srgbClr val="FFFFFF"/>
              </a:buClr>
              <a:buSzPts val="2800"/>
              <a:buNone/>
              <a:defRPr sz="1600">
                <a:solidFill>
                  <a:srgbClr val="FFFFFF"/>
                </a:solidFill>
              </a:defRPr>
            </a:lvl1pPr>
            <a:lvl2pPr lvl="1" algn="ctr">
              <a:lnSpc>
                <a:spcPct val="85000"/>
              </a:lnSpc>
              <a:spcBef>
                <a:spcPts val="0"/>
              </a:spcBef>
              <a:spcAft>
                <a:spcPts val="0"/>
              </a:spcAft>
              <a:buClr>
                <a:srgbClr val="FFFFFF"/>
              </a:buClr>
              <a:buSzPts val="2800"/>
              <a:buNone/>
              <a:defRPr sz="2800">
                <a:solidFill>
                  <a:srgbClr val="FFFFFF"/>
                </a:solidFill>
              </a:defRPr>
            </a:lvl2pPr>
            <a:lvl3pPr lvl="2" algn="ctr">
              <a:lnSpc>
                <a:spcPct val="85000"/>
              </a:lnSpc>
              <a:spcBef>
                <a:spcPts val="0"/>
              </a:spcBef>
              <a:spcAft>
                <a:spcPts val="0"/>
              </a:spcAft>
              <a:buClr>
                <a:srgbClr val="FFFFFF"/>
              </a:buClr>
              <a:buSzPts val="2800"/>
              <a:buNone/>
              <a:defRPr sz="2800">
                <a:solidFill>
                  <a:srgbClr val="FFFFFF"/>
                </a:solidFill>
              </a:defRPr>
            </a:lvl3pPr>
            <a:lvl4pPr lvl="3" algn="ctr">
              <a:lnSpc>
                <a:spcPct val="85000"/>
              </a:lnSpc>
              <a:spcBef>
                <a:spcPts val="0"/>
              </a:spcBef>
              <a:spcAft>
                <a:spcPts val="0"/>
              </a:spcAft>
              <a:buClr>
                <a:srgbClr val="FFFFFF"/>
              </a:buClr>
              <a:buSzPts val="2800"/>
              <a:buNone/>
              <a:defRPr sz="2800">
                <a:solidFill>
                  <a:srgbClr val="FFFFFF"/>
                </a:solidFill>
              </a:defRPr>
            </a:lvl4pPr>
            <a:lvl5pPr lvl="4" algn="ctr">
              <a:lnSpc>
                <a:spcPct val="85000"/>
              </a:lnSpc>
              <a:spcBef>
                <a:spcPts val="0"/>
              </a:spcBef>
              <a:spcAft>
                <a:spcPts val="0"/>
              </a:spcAft>
              <a:buClr>
                <a:srgbClr val="FFFFFF"/>
              </a:buClr>
              <a:buSzPts val="2800"/>
              <a:buNone/>
              <a:defRPr sz="2800">
                <a:solidFill>
                  <a:srgbClr val="FFFFFF"/>
                </a:solidFill>
              </a:defRPr>
            </a:lvl5pPr>
            <a:lvl6pPr lvl="5" algn="ctr">
              <a:lnSpc>
                <a:spcPct val="85000"/>
              </a:lnSpc>
              <a:spcBef>
                <a:spcPts val="0"/>
              </a:spcBef>
              <a:spcAft>
                <a:spcPts val="0"/>
              </a:spcAft>
              <a:buClr>
                <a:srgbClr val="FFFFFF"/>
              </a:buClr>
              <a:buSzPts val="2800"/>
              <a:buNone/>
              <a:defRPr sz="2800">
                <a:solidFill>
                  <a:srgbClr val="FFFFFF"/>
                </a:solidFill>
              </a:defRPr>
            </a:lvl6pPr>
            <a:lvl7pPr lvl="6" algn="ctr">
              <a:lnSpc>
                <a:spcPct val="85000"/>
              </a:lnSpc>
              <a:spcBef>
                <a:spcPts val="0"/>
              </a:spcBef>
              <a:spcAft>
                <a:spcPts val="0"/>
              </a:spcAft>
              <a:buClr>
                <a:srgbClr val="FFFFFF"/>
              </a:buClr>
              <a:buSzPts val="2800"/>
              <a:buNone/>
              <a:defRPr sz="2800">
                <a:solidFill>
                  <a:srgbClr val="FFFFFF"/>
                </a:solidFill>
              </a:defRPr>
            </a:lvl7pPr>
            <a:lvl8pPr lvl="7" algn="ctr">
              <a:lnSpc>
                <a:spcPct val="85000"/>
              </a:lnSpc>
              <a:spcBef>
                <a:spcPts val="0"/>
              </a:spcBef>
              <a:spcAft>
                <a:spcPts val="0"/>
              </a:spcAft>
              <a:buClr>
                <a:srgbClr val="FFFFFF"/>
              </a:buClr>
              <a:buSzPts val="2800"/>
              <a:buNone/>
              <a:defRPr sz="2800">
                <a:solidFill>
                  <a:srgbClr val="FFFFFF"/>
                </a:solidFill>
              </a:defRPr>
            </a:lvl8pPr>
            <a:lvl9pPr lvl="8" algn="ctr">
              <a:lnSpc>
                <a:spcPct val="85000"/>
              </a:lnSpc>
              <a:spcBef>
                <a:spcPts val="0"/>
              </a:spcBef>
              <a:spcAft>
                <a:spcPts val="0"/>
              </a:spcAft>
              <a:buClr>
                <a:srgbClr val="FFFFFF"/>
              </a:buClr>
              <a:buSzPts val="2800"/>
              <a:buNone/>
              <a:defRPr sz="2800">
                <a:solidFill>
                  <a:srgbClr val="FFFF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help.getflowbox.com/en/articles/10663728-countdown-widget" TargetMode="External"/><Relationship Id="rId5" Type="http://schemas.openxmlformats.org/officeDocument/2006/relationships/hyperlink" Target="https://help.getflowbox.com/en/articles/8212282-media-uploader-enable-image-upload-for-your-customers" TargetMode="External"/><Relationship Id="rId6" Type="http://schemas.openxmlformats.org/officeDocument/2006/relationships/hyperlink" Target="https://help.getflowbox.com/en/articles/8212282-media-uploader-enable-image-upload-for-your-customers" TargetMode="External"/><Relationship Id="rId7" Type="http://schemas.openxmlformats.org/officeDocument/2006/relationships/hyperlink" Target="https://help.getflowbox.com/en/articles/8212282-media-uploader-let-your-customers-share-their-content" TargetMode="External"/><Relationship Id="rId8" Type="http://schemas.openxmlformats.org/officeDocument/2006/relationships/hyperlink" Target="https://help.getflowbox.com/en/articles/11000309-website-analytics-modera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0.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8.png"/><Relationship Id="rId8" Type="http://schemas.openxmlformats.org/officeDocument/2006/relationships/image" Target="../media/image11.png"/><Relationship Id="rId9" Type="http://schemas.openxmlformats.org/officeDocument/2006/relationships/image" Target="../media/image13.png"/><Relationship Id="rId10" Type="http://schemas.openxmlformats.org/officeDocument/2006/relationships/image" Target="../media/image4.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311700" y="3387650"/>
            <a:ext cx="8520600" cy="836100"/>
          </a:xfrm>
          <a:prstGeom prst="rect">
            <a:avLst/>
          </a:prstGeom>
        </p:spPr>
        <p:txBody>
          <a:bodyPr anchorCtr="0" anchor="b" bIns="91425" lIns="91425" spcFirstLastPara="1" rIns="91425" wrap="square" tIns="91425">
            <a:normAutofit fontScale="90000"/>
          </a:bodyPr>
          <a:lstStyle/>
          <a:p>
            <a:r>
              <a:t>QBR report</a:t>
            </a:r>
          </a:p>
        </p:txBody>
      </p:sp>
      <p:sp>
        <p:nvSpPr>
          <p:cNvPr id="79" name="Google Shape;79;p17"/>
          <p:cNvSpPr txBox="1"/>
          <p:nvPr>
            <p:ph idx="1" type="subTitle"/>
          </p:nvPr>
        </p:nvSpPr>
        <p:spPr>
          <a:xfrm>
            <a:off x="311700" y="4055600"/>
            <a:ext cx="8520600" cy="792600"/>
          </a:xfrm>
          <a:prstGeom prst="rect">
            <a:avLst/>
          </a:prstGeom>
        </p:spPr>
        <p:txBody>
          <a:bodyPr anchorCtr="0" anchor="t" bIns="91425" lIns="91425" spcFirstLastPara="1" rIns="91425" wrap="square" tIns="91425">
            <a:normAutofit/>
          </a:bodyPr>
          <a:lstStyle/>
          <a:p>
            <a:r>
              <a:t>Product usage &amp; ROI</a:t>
            </a:r>
          </a:p>
        </p:txBody>
      </p:sp>
      <p:sp>
        <p:nvSpPr>
          <p:cNvPr id="80" name="Google Shape;80;p17"/>
          <p:cNvSpPr/>
          <p:nvPr/>
        </p:nvSpPr>
        <p:spPr>
          <a:xfrm>
            <a:off x="9056650" y="2575583"/>
            <a:ext cx="91500" cy="1289400"/>
          </a:xfrm>
          <a:prstGeom prst="rect">
            <a:avLst/>
          </a:prstGeom>
          <a:solidFill>
            <a:srgbClr val="4F88E4"/>
          </a:solidFill>
          <a:ln>
            <a:noFill/>
          </a:ln>
        </p:spPr>
        <p:txBody>
          <a:bodyPr anchorCtr="0" anchor="ctr" bIns="91425" lIns="91425" spcFirstLastPara="1" rIns="91425" wrap="square" tIns="91425">
            <a:noAutofit/>
          </a:bodyPr>
          <a:lstStyle/>
          <a:p/>
        </p:txBody>
      </p:sp>
      <p:sp>
        <p:nvSpPr>
          <p:cNvPr id="81" name="Google Shape;81;p17"/>
          <p:cNvSpPr/>
          <p:nvPr/>
        </p:nvSpPr>
        <p:spPr>
          <a:xfrm>
            <a:off x="9056650" y="1287792"/>
            <a:ext cx="91500" cy="1289400"/>
          </a:xfrm>
          <a:prstGeom prst="rect">
            <a:avLst/>
          </a:prstGeom>
          <a:solidFill>
            <a:srgbClr val="9327FA"/>
          </a:solidFill>
          <a:ln>
            <a:noFill/>
          </a:ln>
        </p:spPr>
        <p:txBody>
          <a:bodyPr anchorCtr="0" anchor="ctr" bIns="91425" lIns="91425" spcFirstLastPara="1" rIns="91425" wrap="square" tIns="91425">
            <a:noAutofit/>
          </a:bodyPr>
          <a:lstStyle/>
          <a:p/>
        </p:txBody>
      </p:sp>
      <p:sp>
        <p:nvSpPr>
          <p:cNvPr id="82" name="Google Shape;82;p17"/>
          <p:cNvSpPr/>
          <p:nvPr/>
        </p:nvSpPr>
        <p:spPr>
          <a:xfrm>
            <a:off x="9056650" y="0"/>
            <a:ext cx="91500" cy="1289400"/>
          </a:xfrm>
          <a:prstGeom prst="rect">
            <a:avLst/>
          </a:prstGeom>
          <a:solidFill>
            <a:srgbClr val="97C381"/>
          </a:solidFill>
          <a:ln>
            <a:noFill/>
          </a:ln>
        </p:spPr>
        <p:txBody>
          <a:bodyPr anchorCtr="0" anchor="ctr" bIns="91425" lIns="91425" spcFirstLastPara="1" rIns="91425" wrap="square" tIns="91425">
            <a:noAutofit/>
          </a:bodyPr>
          <a:lstStyle/>
          <a:p/>
        </p:txBody>
      </p:sp>
      <p:sp>
        <p:nvSpPr>
          <p:cNvPr id="83" name="Google Shape;83;p17"/>
          <p:cNvSpPr/>
          <p:nvPr/>
        </p:nvSpPr>
        <p:spPr>
          <a:xfrm>
            <a:off x="9056650" y="3863375"/>
            <a:ext cx="91500" cy="1289400"/>
          </a:xfrm>
          <a:prstGeom prst="rect">
            <a:avLst/>
          </a:prstGeom>
          <a:solidFill>
            <a:srgbClr val="F2F2F2"/>
          </a:solidFill>
          <a:ln>
            <a:noFill/>
          </a:ln>
        </p:spPr>
        <p:txBody>
          <a:bodyPr anchorCtr="0" anchor="ctr" bIns="91425" lIns="91425" spcFirstLastPara="1" rIns="91425" wrap="square" tIns="91425">
            <a:noAutofit/>
          </a:bodyPr>
          <a:lstStyl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89" name="Google Shape;89;p18"/>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average, you collect 12345 posts per month and manually approve 9876, resulting in an approval rate of 78%.</a:t>
            </a:r>
          </a:p>
        </p:txBody>
      </p:sp>
      <p:pic>
        <p:nvPicPr>
          <p:cNvPr id="90" name="Google Shape;90;p1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91" name="Google Shape;91;p1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Collected x approved</a:t>
            </a:r>
          </a:p>
        </p:txBody>
      </p:sp>
      <p:sp>
        <p:nvSpPr>
          <p:cNvPr id="92" name="Google Shape;92;p1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“Collected posts, approved posts and ratio”</a:t>
            </a:r>
          </a:p>
        </p:txBody>
      </p:sp>
      <p:sp>
        <p:nvSpPr>
          <p:cNvPr id="93" name="Google Shape;93;p18"/>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94" name="Google Shape;94;p1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95" name="Google Shape;95;p1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01" name="Google Shape;101;p1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average, you distribute each approved post X.X times. </a:t>
            </a:r>
          </a:p>
          <a:p/>
        </p:txBody>
      </p:sp>
      <p:pic>
        <p:nvPicPr>
          <p:cNvPr id="102" name="Google Shape;102;p1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03" name="Google Shape;103;p1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Post approval and distribution</a:t>
            </a:r>
          </a:p>
        </p:txBody>
      </p:sp>
      <p:sp>
        <p:nvSpPr>
          <p:cNvPr id="104" name="Google Shape;104;p19"/>
          <p:cNvSpPr txBox="1"/>
          <p:nvPr>
            <p:ph type="ctrTitle"/>
          </p:nvPr>
        </p:nvSpPr>
        <p:spPr>
          <a:xfrm>
            <a:off x="291325" y="670300"/>
            <a:ext cx="4998300" cy="542700"/>
          </a:xfrm>
          <a:prstGeom prst="rect">
            <a:avLst/>
          </a:prstGeom>
        </p:spPr>
        <p:txBody>
          <a:bodyPr anchorCtr="0" anchor="t" bIns="91425" lIns="91425" spcFirstLastPara="1" rIns="91425" wrap="square" tIns="91425">
            <a:normAutofit/>
          </a:bodyPr>
          <a:lstStyle/>
          <a:p>
            <a:r>
              <a:t>“Approved posts x Flows distribution (manual distribution, adding tags and adding products”</a:t>
            </a:r>
          </a:p>
        </p:txBody>
      </p:sp>
      <p:sp>
        <p:nvSpPr>
          <p:cNvPr id="105" name="Google Shape;105;p1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06" name="Google Shape;106;p1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07" name="Google Shape;107;p1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2</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13" name="Google Shape;113;p2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 average per month, you distribute X posts by adding products. Keeping a regularly updated product Flow is essential for an effective sales strategy.</a:t>
            </a:r>
          </a:p>
        </p:txBody>
      </p:sp>
      <p:pic>
        <p:nvPicPr>
          <p:cNvPr id="114" name="Google Shape;114;p2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15" name="Google Shape;115;p2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Post distribution by adding products</a:t>
            </a:r>
          </a:p>
        </p:txBody>
      </p:sp>
      <p:sp>
        <p:nvSpPr>
          <p:cNvPr id="116" name="Google Shape;116;p2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17" name="Google Shape;117;p2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18" name="Google Shape;118;p2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3</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24" name="Google Shape;124;p21"/>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Assisted sales typically increase with greater platform usage, such as approving more posts.</a:t>
            </a:r>
          </a:p>
          <a:p/>
          <a:p>
            <a:r>
              <a:t>This occurs when fresh content is published on your website, capturing users' attention.</a:t>
            </a:r>
          </a:p>
        </p:txBody>
      </p:sp>
      <p:pic>
        <p:nvPicPr>
          <p:cNvPr id="125" name="Google Shape;125;p2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26" name="Google Shape;126;p21"/>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Moderation insights</a:t>
            </a:r>
          </a:p>
        </p:txBody>
      </p:sp>
      <p:sp>
        <p:nvSpPr>
          <p:cNvPr id="127" name="Google Shape;127;p21"/>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“Correlation between distribution and assisted sales”</a:t>
            </a:r>
          </a:p>
        </p:txBody>
      </p:sp>
      <p:sp>
        <p:nvSpPr>
          <p:cNvPr id="128" name="Google Shape;128;p21"/>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29" name="Google Shape;129;p21"/>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30" name="Google Shape;130;p2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4</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36" name="Google Shape;136;p22"/>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average, you sent X.X rights requests per month. </a:t>
            </a:r>
          </a:p>
          <a:p/>
          <a:p>
            <a:r>
              <a:t>We strongly recommend balancing rights requests between DMs and comments, using varied templates to ensure compliance with social media terms and conditions.</a:t>
            </a:r>
          </a:p>
        </p:txBody>
      </p:sp>
      <p:pic>
        <p:nvPicPr>
          <p:cNvPr id="137" name="Google Shape;137;p2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38" name="Google Shape;138;p22"/>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Rights request sent</a:t>
            </a:r>
          </a:p>
        </p:txBody>
      </p:sp>
      <p:sp>
        <p:nvSpPr>
          <p:cNvPr id="139" name="Google Shape;139;p22"/>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“Rights request sent via comments &amp; DM”</a:t>
            </a:r>
          </a:p>
        </p:txBody>
      </p:sp>
      <p:sp>
        <p:nvSpPr>
          <p:cNvPr id="140" name="Google Shape;140;p22"/>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41" name="Google Shape;141;p22"/>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42" name="Google Shape;142;p2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5</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48" name="Google Shape;148;p23"/>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Your average engagement rate is X.X%.</a:t>
            </a:r>
          </a:p>
          <a:p/>
          <a:p>
            <a:r>
              <a:t>As a proxy reference, platforms like Facebook, Instagram and Twitter, typically have an average engagement rate between 1 - 5%.</a:t>
            </a:r>
          </a:p>
          <a:p/>
          <a:p/>
        </p:txBody>
      </p:sp>
      <p:pic>
        <p:nvPicPr>
          <p:cNvPr id="149" name="Google Shape;149;p2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50" name="Google Shape;150;p23"/>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Impressions and engagement rate</a:t>
            </a:r>
          </a:p>
        </p:txBody>
      </p:sp>
      <p:sp>
        <p:nvSpPr>
          <p:cNvPr id="151" name="Google Shape;151;p23"/>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“How often visitors interact with your Flows?”</a:t>
            </a:r>
          </a:p>
        </p:txBody>
      </p:sp>
      <p:sp>
        <p:nvSpPr>
          <p:cNvPr id="152" name="Google Shape;152;p23"/>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53" name="Google Shape;153;p23"/>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54" name="Google Shape;154;p23"/>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6</a:t>
            </a:r>
          </a:p>
        </p:txBody>
      </p:sp>
      <p:sp>
        <p:nvSpPr>
          <p:cNvPr id="155" name="Google Shape;155;p23"/>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r>
              <a:t>Important note</a:t>
            </a:r>
          </a:p>
        </p:txBody>
      </p:sp>
      <p:sp>
        <p:nvSpPr>
          <p:cNvPr id="156" name="Google Shape;156;p23"/>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r>
              <a:t>Proxy benchmarks were gathered by online research and artificial intelligence refinements.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62" name="Google Shape;162;p24"/>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Your average post engagement per engagement is X.X%, while your CTA engagement rate is X.X%.</a:t>
            </a:r>
          </a:p>
          <a:p/>
          <a:p>
            <a:r>
              <a:t>As a benchmark, social media platforms like Facebook, Instagram, and Twitter typically have a CTA rate between 0.5% and 5%.</a:t>
            </a:r>
          </a:p>
        </p:txBody>
      </p:sp>
      <p:pic>
        <p:nvPicPr>
          <p:cNvPr id="163" name="Google Shape;163;p2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64" name="Google Shape;164;p24"/>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Engagement funnel</a:t>
            </a:r>
          </a:p>
        </p:txBody>
      </p:sp>
      <p:sp>
        <p:nvSpPr>
          <p:cNvPr id="165" name="Google Shape;165;p24"/>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“Conversion metrics ratios from engagement to CTA clicks”</a:t>
            </a:r>
          </a:p>
        </p:txBody>
      </p:sp>
      <p:sp>
        <p:nvSpPr>
          <p:cNvPr id="166" name="Google Shape;166;p24"/>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67" name="Google Shape;167;p24"/>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68" name="Google Shape;168;p2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7</a:t>
            </a:r>
          </a:p>
        </p:txBody>
      </p:sp>
      <p:sp>
        <p:nvSpPr>
          <p:cNvPr id="169" name="Google Shape;169;p24"/>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r>
              <a:t>Important note</a:t>
            </a:r>
          </a:p>
        </p:txBody>
      </p:sp>
      <p:sp>
        <p:nvSpPr>
          <p:cNvPr id="170" name="Google Shape;170;p24"/>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r>
              <a:t>1 . Benchmarks do not account for the user journey, meaning they do not reflect how close </a:t>
            </a:r>
          </a:p>
          <a:p>
            <a:r>
              <a:t>users are to making a purchase. 2 . Proxy benchmarks were gathered by online research and artificial intelligence refinements.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76" name="Google Shape;176;p25"/>
          <p:cNvSpPr txBox="1"/>
          <p:nvPr>
            <p:ph type="ctrTitle"/>
          </p:nvPr>
        </p:nvSpPr>
        <p:spPr>
          <a:xfrm>
            <a:off x="6115050" y="1954350"/>
            <a:ext cx="2825700" cy="2757300"/>
          </a:xfrm>
          <a:prstGeom prst="rect">
            <a:avLst/>
          </a:prstGeom>
        </p:spPr>
        <p:txBody>
          <a:bodyPr anchorCtr="0" anchor="t" bIns="91425" lIns="91425" spcFirstLastPara="1" rIns="91425" wrap="square" tIns="91425">
            <a:normAutofit fontScale="90000"/>
          </a:bodyPr>
          <a:lstStyle/>
          <a:p>
            <a:r>
              <a:t>On average, your costs are as follows: Per 1k impressions is €X.X, per post engagement is €X.X and per click is €X.X.</a:t>
            </a:r>
          </a:p>
          <a:p/>
          <a:p>
            <a:r>
              <a:t>As a proxy benchmark, here are some average costs:</a:t>
            </a:r>
          </a:p>
          <a:p/>
          <a:p>
            <a:r>
              <a:t>Per 1k impressions</a:t>
            </a:r>
          </a:p>
          <a:p>
            <a:r>
              <a:t>Facebook / Instagram:  5 - 15€</a:t>
            </a:r>
          </a:p>
          <a:p>
            <a:r>
              <a:t>Google display network:  1 - 5€</a:t>
            </a:r>
          </a:p>
          <a:p>
            <a:r>
              <a:t>YouTube ads:  4 - 12€</a:t>
            </a:r>
          </a:p>
          <a:p/>
          <a:p>
            <a:r>
              <a:t>Cost per post engagement</a:t>
            </a:r>
          </a:p>
          <a:p>
            <a:r>
              <a:t>Facebook ads:  0.05 - 0.20€</a:t>
            </a:r>
          </a:p>
          <a:p>
            <a:r>
              <a:t>Twitter:  0.30 - 1.5€</a:t>
            </a:r>
          </a:p>
          <a:p>
            <a:r>
              <a:t>Linkedin:  1 - 5€.</a:t>
            </a:r>
          </a:p>
          <a:p/>
          <a:p/>
          <a:p/>
          <a:p/>
          <a:p/>
        </p:txBody>
      </p:sp>
      <p:pic>
        <p:nvPicPr>
          <p:cNvPr id="177" name="Google Shape;177;p2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78" name="Google Shape;178;p25"/>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CPI, CPE, CPC</a:t>
            </a:r>
          </a:p>
        </p:txBody>
      </p:sp>
      <p:sp>
        <p:nvSpPr>
          <p:cNvPr id="179" name="Google Shape;179;p25"/>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“Average cost per 1k impressions, post engagement and product click”</a:t>
            </a:r>
          </a:p>
        </p:txBody>
      </p:sp>
      <p:sp>
        <p:nvSpPr>
          <p:cNvPr id="180" name="Google Shape;180;p25"/>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81" name="Google Shape;181;p25"/>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82" name="Google Shape;182;p2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8</a:t>
            </a:r>
          </a:p>
        </p:txBody>
      </p:sp>
      <p:sp>
        <p:nvSpPr>
          <p:cNvPr id="183" name="Google Shape;183;p25"/>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r>
              <a:t>Important note</a:t>
            </a:r>
          </a:p>
        </p:txBody>
      </p:sp>
      <p:sp>
        <p:nvSpPr>
          <p:cNvPr id="184" name="Google Shape;184;p25"/>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r>
              <a:t>1 . Benchmarks do not account for the user journey, meaning they do not reflect how close </a:t>
            </a:r>
          </a:p>
          <a:p>
            <a:r>
              <a:t>users are to making a purchase. 2 . Proxy benchmarks were gathered by online research and artificial intelligence refinements. </a:t>
            </a:r>
          </a:p>
        </p:txBody>
      </p:sp>
      <p:sp>
        <p:nvSpPr>
          <p:cNvPr id="185" name="Google Shape;185;p25"/>
          <p:cNvSpPr txBox="1"/>
          <p:nvPr>
            <p:ph type="ctrTitle"/>
          </p:nvPr>
        </p:nvSpPr>
        <p:spPr>
          <a:xfrm>
            <a:off x="7700858" y="3219054"/>
            <a:ext cx="1237500" cy="1261800"/>
          </a:xfrm>
          <a:prstGeom prst="rect">
            <a:avLst/>
          </a:prstGeom>
        </p:spPr>
        <p:txBody>
          <a:bodyPr anchorCtr="0" anchor="t" bIns="91425" lIns="91425" spcFirstLastPara="1" rIns="91425" wrap="square" tIns="91425">
            <a:noAutofit/>
          </a:bodyPr>
          <a:lstStyle/>
          <a:p>
            <a:r>
              <a:t>Cost per click</a:t>
            </a:r>
          </a:p>
          <a:p>
            <a:r>
              <a:t>FB / IG ads:  0.20 - 1.50€</a:t>
            </a:r>
          </a:p>
          <a:p>
            <a:r>
              <a:t>Google search: 1 - 3€</a:t>
            </a:r>
          </a:p>
          <a:p>
            <a:r>
              <a:t>Twitter: 0.50 - 2€</a:t>
            </a:r>
          </a:p>
          <a:p>
            <a:r>
              <a:t>Linkedin: 3 - 6€.</a:t>
            </a:r>
          </a:p>
          <a:p/>
          <a:p/>
          <a:p/>
          <a:p/>
          <a:p/>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191" name="Google Shape;191;p26"/>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average, your cost per post engagement is €X.X.</a:t>
            </a:r>
          </a:p>
          <a:p/>
          <a:p>
            <a:r>
              <a:t>As a proxy benchmark, here are some average costs:</a:t>
            </a:r>
          </a:p>
          <a:p/>
          <a:p>
            <a:r>
              <a:t>Facebook ads: 	0.05 - 0.20€</a:t>
            </a:r>
          </a:p>
          <a:p>
            <a:r>
              <a:t>Twitter: 		0.30 - 1.5€</a:t>
            </a:r>
          </a:p>
          <a:p>
            <a:r>
              <a:t>Linkedin: 		1 - 5€.</a:t>
            </a:r>
          </a:p>
        </p:txBody>
      </p:sp>
      <p:pic>
        <p:nvPicPr>
          <p:cNvPr id="192" name="Google Shape;192;p26"/>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93" name="Google Shape;193;p26"/>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Cost per post engagement</a:t>
            </a:r>
          </a:p>
        </p:txBody>
      </p:sp>
      <p:sp>
        <p:nvSpPr>
          <p:cNvPr id="194" name="Google Shape;194;p26"/>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“Month invoice / post engagements”</a:t>
            </a:r>
          </a:p>
        </p:txBody>
      </p:sp>
      <p:sp>
        <p:nvSpPr>
          <p:cNvPr id="195" name="Google Shape;195;p26"/>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196" name="Google Shape;196;p26"/>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197" name="Google Shape;197;p2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10</a:t>
            </a:r>
          </a:p>
        </p:txBody>
      </p:sp>
      <p:sp>
        <p:nvSpPr>
          <p:cNvPr id="198" name="Google Shape;198;p26"/>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r>
              <a:t>Important note</a:t>
            </a:r>
          </a:p>
        </p:txBody>
      </p:sp>
      <p:sp>
        <p:nvSpPr>
          <p:cNvPr id="199" name="Google Shape;199;p26"/>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r>
              <a:t>1 . Benchmarks do not account for the user journey, meaning they do not reflect how close </a:t>
            </a:r>
          </a:p>
          <a:p>
            <a:r>
              <a:t>users are to making a purchase. 2 . Proxy benchmarks were gathered by online research and artificial intelligence refinements.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205" name="Google Shape;205;p27"/>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average, your cost per click is €X.X.</a:t>
            </a:r>
          </a:p>
          <a:p/>
          <a:p>
            <a:r>
              <a:t>As a proxy benchmark, here are some average costs:</a:t>
            </a:r>
          </a:p>
          <a:p/>
          <a:p>
            <a:r>
              <a:t>FB / IG ads: 		0.20 - 1.50€</a:t>
            </a:r>
          </a:p>
          <a:p>
            <a:r>
              <a:t>Google search:	1 - 3€</a:t>
            </a:r>
          </a:p>
          <a:p>
            <a:r>
              <a:t>Twitter: 		0.50 - 2€</a:t>
            </a:r>
          </a:p>
          <a:p>
            <a:r>
              <a:t>Linkedin: 		3 - 6€.</a:t>
            </a:r>
          </a:p>
        </p:txBody>
      </p:sp>
      <p:pic>
        <p:nvPicPr>
          <p:cNvPr id="206" name="Google Shape;206;p2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07" name="Google Shape;207;p27"/>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Cost per click</a:t>
            </a:r>
          </a:p>
        </p:txBody>
      </p:sp>
      <p:sp>
        <p:nvSpPr>
          <p:cNvPr id="208" name="Google Shape;208;p27"/>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“Month invoice / product clicks”</a:t>
            </a:r>
          </a:p>
        </p:txBody>
      </p:sp>
      <p:sp>
        <p:nvSpPr>
          <p:cNvPr id="209" name="Google Shape;209;p27"/>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10" name="Google Shape;210;p27"/>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211" name="Google Shape;211;p2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11</a:t>
            </a:r>
          </a:p>
        </p:txBody>
      </p:sp>
      <p:sp>
        <p:nvSpPr>
          <p:cNvPr id="212" name="Google Shape;212;p27"/>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r>
              <a:t>Important note</a:t>
            </a:r>
          </a:p>
        </p:txBody>
      </p:sp>
      <p:sp>
        <p:nvSpPr>
          <p:cNvPr id="213" name="Google Shape;213;p27"/>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r>
              <a:t>1 . Benchmarks do not account for the user journey, meaning they do not reflect how close </a:t>
            </a:r>
          </a:p>
          <a:p>
            <a:r>
              <a:t>users are to making a purchase. 2 . Proxy benchmarks were gathered by online research and artificial intelligence refinements.</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219" name="Google Shape;219;p28"/>
          <p:cNvSpPr txBox="1"/>
          <p:nvPr>
            <p:ph type="ctrTitle"/>
          </p:nvPr>
        </p:nvSpPr>
        <p:spPr>
          <a:xfrm>
            <a:off x="6115050" y="1954350"/>
            <a:ext cx="2825700" cy="2757300"/>
          </a:xfrm>
          <a:prstGeom prst="rect">
            <a:avLst/>
          </a:prstGeom>
        </p:spPr>
        <p:txBody>
          <a:bodyPr anchorCtr="0" anchor="t" bIns="91425" lIns="91425" spcFirstLastPara="1" rIns="91425" wrap="square" tIns="91425">
            <a:normAutofit fontScale="90000"/>
          </a:bodyPr>
          <a:lstStyle/>
          <a:p>
            <a:r>
              <a:t>A common metric for digital marketing is ROAS (Return on Ad Spend). The Flowbox model allows you to compare the return per euro invested based on three possible attribution percentages: 3%, 5%, or 7%, which are considered standard for online campaigns.</a:t>
            </a:r>
          </a:p>
          <a:p/>
          <a:p>
            <a:r>
              <a:t>Your averages are as follows:  </a:t>
            </a:r>
          </a:p>
          <a:p/>
          <a:p>
            <a:r>
              <a:t>3% attribution of assisted sales: X.XX€  </a:t>
            </a:r>
          </a:p>
          <a:p>
            <a:r>
              <a:t>5% attribution of assisted sales: X.XX€  </a:t>
            </a:r>
          </a:p>
          <a:p>
            <a:r>
              <a:t>7% attribution of assisted sales: X.XX€</a:t>
            </a:r>
          </a:p>
        </p:txBody>
      </p:sp>
      <p:pic>
        <p:nvPicPr>
          <p:cNvPr id="220" name="Google Shape;220;p2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21" name="Google Shape;221;p2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ROI</a:t>
            </a:r>
          </a:p>
        </p:txBody>
      </p:sp>
      <p:sp>
        <p:nvSpPr>
          <p:cNvPr id="222" name="Google Shape;222;p2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“Total assisted sales x attribution model (%) / Month invoice”</a:t>
            </a:r>
          </a:p>
        </p:txBody>
      </p:sp>
      <p:sp>
        <p:nvSpPr>
          <p:cNvPr id="223" name="Google Shape;223;p28"/>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24" name="Google Shape;224;p2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225" name="Google Shape;225;p2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231" name="Google Shape;231;p2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average, your order value uplift is X.X% and order size value uplift is X.X%.</a:t>
            </a:r>
          </a:p>
          <a:p/>
          <a:p/>
        </p:txBody>
      </p:sp>
      <p:pic>
        <p:nvPicPr>
          <p:cNvPr id="232" name="Google Shape;232;p2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33" name="Google Shape;233;p2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Order size and value uplift</a:t>
            </a:r>
          </a:p>
        </p:txBody>
      </p:sp>
      <p:sp>
        <p:nvSpPr>
          <p:cNvPr id="234" name="Google Shape;234;p29"/>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r>
              <a:t>“Assisted x unassisted”</a:t>
            </a:r>
          </a:p>
        </p:txBody>
      </p:sp>
      <p:sp>
        <p:nvSpPr>
          <p:cNvPr id="235" name="Google Shape;235;p2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36" name="Google Shape;236;p2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237" name="Google Shape;237;p2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9</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p:txBody>
      </p:sp>
      <p:sp>
        <p:nvSpPr>
          <p:cNvPr id="243" name="Google Shape;243;p3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r>
              <a:t>On average, your order share is X%.</a:t>
            </a:r>
          </a:p>
          <a:p/>
          <a:p/>
        </p:txBody>
      </p:sp>
      <p:pic>
        <p:nvPicPr>
          <p:cNvPr id="244" name="Google Shape;244;p3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45" name="Google Shape;245;p3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r>
              <a:t>Order share</a:t>
            </a:r>
          </a:p>
        </p:txBody>
      </p:sp>
      <p:sp>
        <p:nvSpPr>
          <p:cNvPr id="246" name="Google Shape;246;p3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47" name="Google Shape;247;p3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r>
              <a:t>Remarks</a:t>
            </a:r>
          </a:p>
        </p:txBody>
      </p:sp>
      <p:sp>
        <p:nvSpPr>
          <p:cNvPr id="248" name="Google Shape;248;p3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9</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p:txBody>
      </p:sp>
      <p:pic>
        <p:nvPicPr>
          <p:cNvPr id="254" name="Google Shape;254;p3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55" name="Google Shape;255;p31"/>
          <p:cNvSpPr txBox="1"/>
          <p:nvPr>
            <p:ph type="ctrTitle"/>
          </p:nvPr>
        </p:nvSpPr>
        <p:spPr>
          <a:xfrm>
            <a:off x="291325" y="218350"/>
            <a:ext cx="5056200" cy="401100"/>
          </a:xfrm>
          <a:prstGeom prst="rect">
            <a:avLst/>
          </a:prstGeom>
        </p:spPr>
        <p:txBody>
          <a:bodyPr anchorCtr="0" anchor="b" bIns="91425" lIns="91425" spcFirstLastPara="1" rIns="91425" wrap="square" tIns="91425">
            <a:noAutofit/>
          </a:bodyPr>
          <a:lstStyle/>
          <a:p>
            <a:r>
              <a:t>Key achievements and recommendations</a:t>
            </a:r>
          </a:p>
        </p:txBody>
      </p:sp>
      <p:sp>
        <p:nvSpPr>
          <p:cNvPr id="256" name="Google Shape;256;p3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13</a:t>
            </a:r>
          </a:p>
        </p:txBody>
      </p:sp>
      <p:sp>
        <p:nvSpPr>
          <p:cNvPr id="257" name="Google Shape;257;p31"/>
          <p:cNvSpPr txBox="1"/>
          <p:nvPr>
            <p:ph type="ctrTitle"/>
          </p:nvPr>
        </p:nvSpPr>
        <p:spPr>
          <a:xfrm>
            <a:off x="780075" y="1324200"/>
            <a:ext cx="7584000" cy="2940600"/>
          </a:xfrm>
          <a:prstGeom prst="rect">
            <a:avLst/>
          </a:prstGeom>
          <a:noFill/>
        </p:spPr>
        <p:txBody>
          <a:bodyPr anchorCtr="0" anchor="t" bIns="91425" lIns="91425" spcFirstLastPara="1" rIns="91425" wrap="square" tIns="91425">
            <a:normAutofit fontScale="90000"/>
          </a:bodyPr>
          <a:lstStyle/>
          <a:p>
            <a:r>
              <a:t>Recommendations</a:t>
            </a:r>
          </a:p>
          <a:p/>
          <a:p>
            <a:r>
              <a:t>Strategies to enhance community engagement and leverage it for better sales performance.</a:t>
            </a:r>
          </a:p>
          <a:p>
            <a:r>
              <a:t>Suggestions for optimizing media creation processes to reduce costs and time while improving quality.</a:t>
            </a:r>
          </a:p>
          <a:p>
            <a:r>
              <a:t>Include some recommendations</a:t>
            </a:r>
          </a:p>
          <a:p>
            <a:r>
              <a:t>Include extra features like UGC DPA + Email Assets + Flow in email etc</a:t>
            </a:r>
          </a:p>
          <a:p>
            <a:r>
              <a:t>Don’t include our newest feature - use the new feature slide for this</a:t>
            </a:r>
          </a:p>
          <a:p/>
          <a:p/>
          <a:p>
            <a:r>
              <a:t>Action Items</a:t>
            </a:r>
          </a:p>
          <a:p/>
          <a:p>
            <a:r>
              <a:t>List of specific actions to be taken based on the findings of the review.</a:t>
            </a:r>
          </a:p>
          <a:p>
            <a:r>
              <a:t>Assign responsibilities and timelines for the action items.</a:t>
            </a:r>
          </a:p>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63" name="Google Shape;263;p32"/>
          <p:cNvSpPr txBox="1"/>
          <p:nvPr>
            <p:ph type="ctrTitle"/>
          </p:nvPr>
        </p:nvSpPr>
        <p:spPr>
          <a:xfrm>
            <a:off x="721425" y="1165525"/>
            <a:ext cx="6720600" cy="386700"/>
          </a:xfrm>
          <a:prstGeom prst="rect">
            <a:avLst/>
          </a:prstGeom>
        </p:spPr>
        <p:txBody>
          <a:bodyPr anchorCtr="0" anchor="t" bIns="91425" lIns="91425" spcFirstLastPara="1" rIns="91425" wrap="square" tIns="91425">
            <a:normAutofit/>
          </a:bodyPr>
          <a:lstStyle/>
          <a:p>
            <a:r>
              <a:t>Proud to present an array of groundbreaking features that will revolutionize your experience</a:t>
            </a:r>
          </a:p>
        </p:txBody>
      </p:sp>
      <p:pic>
        <p:nvPicPr>
          <p:cNvPr id="264" name="Google Shape;264;p3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65" name="Google Shape;265;p32"/>
          <p:cNvSpPr txBox="1"/>
          <p:nvPr>
            <p:ph type="ctrTitle"/>
          </p:nvPr>
        </p:nvSpPr>
        <p:spPr>
          <a:xfrm>
            <a:off x="291325" y="74750"/>
            <a:ext cx="3029100" cy="456600"/>
          </a:xfrm>
          <a:prstGeom prst="rect">
            <a:avLst/>
          </a:prstGeom>
        </p:spPr>
        <p:txBody>
          <a:bodyPr anchorCtr="0" anchor="b" bIns="91425" lIns="91425" spcFirstLastPara="1" rIns="91425" wrap="square" tIns="91425">
            <a:noAutofit/>
          </a:bodyPr>
          <a:lstStyle/>
          <a:p>
            <a:r>
              <a:t>New features in 2025</a:t>
            </a:r>
          </a:p>
        </p:txBody>
      </p:sp>
      <p:sp>
        <p:nvSpPr>
          <p:cNvPr id="266" name="Google Shape;266;p3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14</a:t>
            </a:r>
          </a:p>
        </p:txBody>
      </p:sp>
      <p:sp>
        <p:nvSpPr>
          <p:cNvPr id="267" name="Google Shape;267;p32"/>
          <p:cNvSpPr txBox="1"/>
          <p:nvPr/>
        </p:nvSpPr>
        <p:spPr>
          <a:xfrm>
            <a:off x="758475" y="1648350"/>
            <a:ext cx="7435500" cy="2751000"/>
          </a:xfrm>
          <a:prstGeom prst="rect">
            <a:avLst/>
          </a:prstGeom>
          <a:noFill/>
          <a:ln>
            <a:noFill/>
          </a:ln>
        </p:spPr>
        <p:txBody>
          <a:bodyPr anchorCtr="0" anchor="t" bIns="91425" lIns="91425" spcFirstLastPara="1" rIns="91425" wrap="square" tIns="91425">
            <a:spAutoFit/>
          </a:bodyPr>
          <a:lstStyle/>
          <a:p/>
          <a:p>
            <a:r>
              <a:t>Countdown Widget: Option to create time-limited sales campaigns - reveal one promo + product per day, each available for 24 hours before the next one appears. </a:t>
            </a:r>
          </a:p>
          <a:p>
            <a:r>
              <a:t>Costs: €100 per month. Here you can find more information</a:t>
            </a:r>
            <a:br/>
          </a:p>
          <a:p>
            <a:r>
              <a:t>Media Uploader: Allows users to share their content - images or videos - directly through your Flow or a shared link. You can tailor the uploader to match your brand and campaign goals. </a:t>
            </a:r>
            <a:br/>
            <a:r>
              <a:t>The Media Uploader Forms feature allows you to add custom questions to your media uploader in a flow. This helps you gather additional insights from users alongside the UGC they submit. </a:t>
            </a:r>
          </a:p>
          <a:p>
            <a:r>
              <a:t>Costs: €100 per month. Here you can find more information</a:t>
            </a:r>
            <a:br/>
          </a:p>
          <a:p>
            <a:r>
              <a:t>Analytics Moderation: The new analytics panel has additional metrics which Flowbox did not track before related to the moderation of content and of course a new design and fixed metrics. </a:t>
            </a:r>
          </a:p>
          <a:p>
            <a:r>
              <a:t>Free! Here you can find more information.</a:t>
            </a:r>
          </a:p>
        </p:txBody>
      </p:sp>
      <p:sp>
        <p:nvSpPr>
          <p:cNvPr id="268" name="Google Shape;268;p32"/>
          <p:cNvSpPr txBox="1"/>
          <p:nvPr>
            <p:ph type="ctrTitle"/>
          </p:nvPr>
        </p:nvSpPr>
        <p:spPr>
          <a:xfrm>
            <a:off x="291325" y="435175"/>
            <a:ext cx="921600" cy="286500"/>
          </a:xfrm>
          <a:prstGeom prst="rect">
            <a:avLst/>
          </a:prstGeom>
        </p:spPr>
        <p:txBody>
          <a:bodyPr anchorCtr="0" anchor="t" bIns="91425" lIns="91425" spcFirstLastPara="1" rIns="91425" wrap="square" tIns="91425">
            <a:noAutofit/>
          </a:bodyPr>
          <a:lstStyle/>
          <a:p>
            <a:r>
              <a:t>Out now!</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3199470" y="559375"/>
            <a:ext cx="2745000" cy="477300"/>
          </a:xfrm>
          <a:prstGeom prst="rect">
            <a:avLst/>
          </a:prstGeom>
        </p:spPr>
        <p:txBody>
          <a:bodyPr anchorCtr="0" anchor="t" bIns="0" lIns="0" spcFirstLastPara="1" rIns="0" wrap="square" tIns="0">
            <a:spAutoFit/>
          </a:bodyPr>
          <a:lstStyle/>
          <a:p/>
        </p:txBody>
      </p:sp>
      <p:sp>
        <p:nvSpPr>
          <p:cNvPr id="274" name="Google Shape;274;p33"/>
          <p:cNvSpPr/>
          <p:nvPr/>
        </p:nvSpPr>
        <p:spPr>
          <a:xfrm>
            <a:off x="75" y="100"/>
            <a:ext cx="4572000" cy="51435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75" name="Google Shape;275;p33"/>
          <p:cNvSpPr/>
          <p:nvPr/>
        </p:nvSpPr>
        <p:spPr>
          <a:xfrm>
            <a:off x="4572125" y="100"/>
            <a:ext cx="4572000" cy="5143500"/>
          </a:xfrm>
          <a:prstGeom prst="rect">
            <a:avLst/>
          </a:prstGeom>
          <a:solidFill>
            <a:srgbClr val="F2F2F2"/>
          </a:solidFill>
          <a:ln>
            <a:noFill/>
          </a:ln>
        </p:spPr>
        <p:txBody>
          <a:bodyPr anchorCtr="0" anchor="ctr" bIns="91425" lIns="91425" spcFirstLastPara="1" rIns="91425" wrap="square" tIns="91425">
            <a:noAutofit/>
          </a:bodyPr>
          <a:lstStyle/>
          <a:p/>
        </p:txBody>
      </p:sp>
      <p:pic>
        <p:nvPicPr>
          <p:cNvPr id="276" name="Google Shape;276;p3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77" name="Google Shape;277;p33"/>
          <p:cNvSpPr txBox="1"/>
          <p:nvPr>
            <p:ph idx="4294967295" type="ctrTitle"/>
          </p:nvPr>
        </p:nvSpPr>
        <p:spPr>
          <a:xfrm>
            <a:off x="343575" y="1859450"/>
            <a:ext cx="4998300" cy="456600"/>
          </a:xfrm>
          <a:prstGeom prst="rect">
            <a:avLst/>
          </a:prstGeom>
        </p:spPr>
        <p:txBody>
          <a:bodyPr anchorCtr="0" anchor="b" bIns="91425" lIns="91425" spcFirstLastPara="1" rIns="91425" wrap="square" tIns="91425">
            <a:noAutofit/>
          </a:bodyPr>
          <a:lstStyle/>
          <a:p>
            <a:r>
              <a:t>Appendix</a:t>
            </a:r>
          </a:p>
        </p:txBody>
      </p:sp>
      <p:sp>
        <p:nvSpPr>
          <p:cNvPr id="278" name="Google Shape;278;p33"/>
          <p:cNvSpPr txBox="1"/>
          <p:nvPr>
            <p:ph idx="4294967295" type="ctrTitle"/>
          </p:nvPr>
        </p:nvSpPr>
        <p:spPr>
          <a:xfrm>
            <a:off x="280875" y="2616500"/>
            <a:ext cx="4010400" cy="456600"/>
          </a:xfrm>
          <a:prstGeom prst="rect">
            <a:avLst/>
          </a:prstGeom>
        </p:spPr>
        <p:txBody>
          <a:bodyPr anchorCtr="0" anchor="t" bIns="91425" lIns="91425" spcFirstLastPara="1" rIns="91425" wrap="square" tIns="91425">
            <a:noAutofit/>
          </a:bodyPr>
          <a:lstStyle/>
          <a:p>
            <a:r>
              <a:t>Additional data related to the ugc, additional features, etc.</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p:nvPr/>
        </p:nvSpPr>
        <p:spPr>
          <a:xfrm>
            <a:off x="2567850" y="1403200"/>
            <a:ext cx="4008300" cy="3336300"/>
          </a:xfrm>
          <a:prstGeom prst="rect">
            <a:avLst/>
          </a:prstGeom>
          <a:solidFill>
            <a:srgbClr val="F2F2F2"/>
          </a:solidFill>
          <a:ln>
            <a:noFill/>
          </a:ln>
        </p:spPr>
        <p:txBody>
          <a:bodyPr anchorCtr="0" anchor="ctr" bIns="91425" lIns="91425" spcFirstLastPara="1" rIns="91425" wrap="square" tIns="91425">
            <a:noAutofit/>
          </a:bodyPr>
          <a:lstStyle/>
          <a:p/>
        </p:txBody>
      </p:sp>
      <p:sp>
        <p:nvSpPr>
          <p:cNvPr id="284" name="Google Shape;284;p34"/>
          <p:cNvSpPr txBox="1"/>
          <p:nvPr>
            <p:ph type="ctrTitle"/>
          </p:nvPr>
        </p:nvSpPr>
        <p:spPr>
          <a:xfrm>
            <a:off x="2651775" y="1474450"/>
            <a:ext cx="3840600" cy="3193800"/>
          </a:xfrm>
          <a:prstGeom prst="rect">
            <a:avLst/>
          </a:prstGeom>
        </p:spPr>
        <p:txBody>
          <a:bodyPr anchorCtr="0" anchor="t" bIns="91425" lIns="91425" spcFirstLastPara="1" rIns="91425" wrap="square" tIns="91425">
            <a:normAutofit/>
          </a:bodyPr>
          <a:lstStyle/>
          <a:p>
            <a:r>
              <a:t>Deeper analytics development (Moderation Analytics)</a:t>
            </a:r>
          </a:p>
          <a:p>
            <a:r>
              <a:t>Media Uploader Version 2 </a:t>
            </a:r>
          </a:p>
          <a:p>
            <a:r>
              <a:t>Feature updates and improvements </a:t>
            </a:r>
          </a:p>
          <a:p>
            <a:r>
              <a:t>Revamp UX and UI Across the Platform</a:t>
            </a:r>
          </a:p>
          <a:p>
            <a:r>
              <a:t>Flows new Designs and Behaviors</a:t>
            </a:r>
          </a:p>
          <a:p>
            <a:r>
              <a:t>New Analytics Design </a:t>
            </a:r>
          </a:p>
          <a:p>
            <a:r>
              <a:t>Revamp UX and UI on Flows Embed code  </a:t>
            </a:r>
          </a:p>
          <a:p>
            <a:r>
              <a:t>Ratings and Reviews further development </a:t>
            </a:r>
          </a:p>
          <a:p>
            <a:r>
              <a:t>Replying reviews </a:t>
            </a:r>
          </a:p>
          <a:p>
            <a:r>
              <a:t>Adding images to the reviews </a:t>
            </a:r>
          </a:p>
        </p:txBody>
      </p:sp>
      <p:pic>
        <p:nvPicPr>
          <p:cNvPr id="285" name="Google Shape;285;p3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86" name="Google Shape;286;p34"/>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87" name="Google Shape;287;p34"/>
          <p:cNvSpPr txBox="1"/>
          <p:nvPr>
            <p:ph type="ctrTitle"/>
          </p:nvPr>
        </p:nvSpPr>
        <p:spPr>
          <a:xfrm>
            <a:off x="291325" y="49100"/>
            <a:ext cx="2225700" cy="456600"/>
          </a:xfrm>
          <a:prstGeom prst="rect">
            <a:avLst/>
          </a:prstGeom>
        </p:spPr>
        <p:txBody>
          <a:bodyPr anchorCtr="0" anchor="b" bIns="91425" lIns="91425" spcFirstLastPara="1" rIns="91425" wrap="square" tIns="91425">
            <a:normAutofit/>
          </a:bodyPr>
          <a:lstStyle/>
          <a:p>
            <a:r>
              <a:t>Roadmap 2025</a:t>
            </a:r>
          </a:p>
        </p:txBody>
      </p:sp>
      <p:sp>
        <p:nvSpPr>
          <p:cNvPr id="288" name="Google Shape;288;p3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16</a:t>
            </a:r>
          </a:p>
        </p:txBody>
      </p:sp>
      <p:sp>
        <p:nvSpPr>
          <p:cNvPr id="289" name="Google Shape;289;p34"/>
          <p:cNvSpPr txBox="1"/>
          <p:nvPr>
            <p:ph type="ctrTitle"/>
          </p:nvPr>
        </p:nvSpPr>
        <p:spPr>
          <a:xfrm>
            <a:off x="291325" y="459375"/>
            <a:ext cx="4998300" cy="456600"/>
          </a:xfrm>
          <a:prstGeom prst="rect">
            <a:avLst/>
          </a:prstGeom>
        </p:spPr>
        <p:txBody>
          <a:bodyPr anchorCtr="0" anchor="t" bIns="91425" lIns="91425" spcFirstLastPara="1" rIns="91425" wrap="square" tIns="91425">
            <a:normAutofit/>
          </a:bodyPr>
          <a:lstStyle/>
          <a:p>
            <a:r>
              <a:t>Our goals for next year - What’s coming next?</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3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95" name="Google Shape;295;p35"/>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p:txBody>
      </p:sp>
      <p:sp>
        <p:nvSpPr>
          <p:cNvPr id="296" name="Google Shape;296;p35"/>
          <p:cNvSpPr txBox="1"/>
          <p:nvPr>
            <p:ph type="ctrTitle"/>
          </p:nvPr>
        </p:nvSpPr>
        <p:spPr>
          <a:xfrm>
            <a:off x="291325" y="49100"/>
            <a:ext cx="5203800" cy="456600"/>
          </a:xfrm>
          <a:prstGeom prst="rect">
            <a:avLst/>
          </a:prstGeom>
        </p:spPr>
        <p:txBody>
          <a:bodyPr anchorCtr="0" anchor="b" bIns="91425" lIns="91425" spcFirstLastPara="1" rIns="91425" wrap="square" tIns="91425">
            <a:normAutofit/>
          </a:bodyPr>
          <a:lstStyle/>
          <a:p>
            <a:r>
              <a:t>Flow New Designs and Behaviors</a:t>
            </a:r>
          </a:p>
        </p:txBody>
      </p:sp>
      <p:sp>
        <p:nvSpPr>
          <p:cNvPr id="297" name="Google Shape;297;p3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16</a:t>
            </a:r>
          </a:p>
        </p:txBody>
      </p:sp>
      <p:pic>
        <p:nvPicPr>
          <p:cNvPr id="298" name="Google Shape;298;p35" title="widgets v2.gif"/>
          <p:cNvPicPr preferRelativeResize="0"/>
          <p:nvPr/>
        </p:nvPicPr>
        <p:blipFill>
          <a:blip r:embed="rId4">
            <a:alphaModFix/>
          </a:blip>
          <a:stretch>
            <a:fillRect/>
          </a:stretch>
        </p:blipFill>
        <p:spPr>
          <a:xfrm>
            <a:off x="1358125" y="990100"/>
            <a:ext cx="6388822" cy="400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p:txBody>
      </p:sp>
      <p:pic>
        <p:nvPicPr>
          <p:cNvPr id="304" name="Google Shape;304;p36"/>
          <p:cNvPicPr preferRelativeResize="0"/>
          <p:nvPr/>
        </p:nvPicPr>
        <p:blipFill>
          <a:blip r:embed="rId3">
            <a:alphaModFix/>
          </a:blip>
          <a:stretch>
            <a:fillRect/>
          </a:stretch>
        </p:blipFill>
        <p:spPr>
          <a:xfrm>
            <a:off x="8557100" y="4511966"/>
            <a:ext cx="547200" cy="114912"/>
          </a:xfrm>
          <a:prstGeom prst="rect">
            <a:avLst/>
          </a:prstGeom>
          <a:noFill/>
          <a:ln>
            <a:noFill/>
          </a:ln>
        </p:spPr>
      </p:pic>
      <p:sp>
        <p:nvSpPr>
          <p:cNvPr id="305" name="Google Shape;305;p36"/>
          <p:cNvSpPr txBox="1"/>
          <p:nvPr>
            <p:ph type="ctrTitle"/>
          </p:nvPr>
        </p:nvSpPr>
        <p:spPr>
          <a:xfrm>
            <a:off x="291325" y="112000"/>
            <a:ext cx="2225700" cy="456600"/>
          </a:xfrm>
          <a:prstGeom prst="rect">
            <a:avLst/>
          </a:prstGeom>
        </p:spPr>
        <p:txBody>
          <a:bodyPr anchorCtr="0" anchor="b" bIns="91425" lIns="91425" spcFirstLastPara="1" rIns="91425" wrap="square" tIns="91425">
            <a:normAutofit/>
          </a:bodyPr>
          <a:lstStyle/>
          <a:p>
            <a:r>
              <a:t>TikTok Collection</a:t>
            </a:r>
          </a:p>
        </p:txBody>
      </p:sp>
      <p:sp>
        <p:nvSpPr>
          <p:cNvPr id="306" name="Google Shape;306;p3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11</a:t>
            </a:r>
          </a:p>
        </p:txBody>
      </p:sp>
      <p:sp>
        <p:nvSpPr>
          <p:cNvPr id="307" name="Google Shape;307;p36"/>
          <p:cNvSpPr txBox="1"/>
          <p:nvPr>
            <p:ph type="ctrTitle"/>
          </p:nvPr>
        </p:nvSpPr>
        <p:spPr>
          <a:xfrm>
            <a:off x="291325" y="497975"/>
            <a:ext cx="4998300" cy="456600"/>
          </a:xfrm>
          <a:prstGeom prst="rect">
            <a:avLst/>
          </a:prstGeom>
        </p:spPr>
        <p:txBody>
          <a:bodyPr anchorCtr="0" anchor="t" bIns="91425" lIns="91425" spcFirstLastPara="1" rIns="91425" wrap="square" tIns="91425">
            <a:normAutofit/>
          </a:bodyPr>
          <a:lstStyle/>
          <a:p>
            <a:r>
              <a:t>Add-on</a:t>
            </a:r>
          </a:p>
        </p:txBody>
      </p:sp>
      <p:sp>
        <p:nvSpPr>
          <p:cNvPr id="308" name="Google Shape;308;p36"/>
          <p:cNvSpPr/>
          <p:nvPr/>
        </p:nvSpPr>
        <p:spPr>
          <a:xfrm>
            <a:off x="75" y="837700"/>
            <a:ext cx="5289600" cy="4305900"/>
          </a:xfrm>
          <a:prstGeom prst="rect">
            <a:avLst/>
          </a:prstGeom>
          <a:solidFill>
            <a:srgbClr val="F2F2F2"/>
          </a:solidFill>
          <a:ln>
            <a:noFill/>
          </a:ln>
        </p:spPr>
        <p:txBody>
          <a:bodyPr anchorCtr="0" anchor="ctr" bIns="91425" lIns="91425" spcFirstLastPara="1" rIns="91425" wrap="square" tIns="91425">
            <a:noAutofit/>
          </a:bodyPr>
          <a:lstStyle/>
          <a:p/>
        </p:txBody>
      </p:sp>
      <p:sp>
        <p:nvSpPr>
          <p:cNvPr id="309" name="Google Shape;309;p36"/>
          <p:cNvSpPr txBox="1"/>
          <p:nvPr>
            <p:ph type="ctrTitle"/>
          </p:nvPr>
        </p:nvSpPr>
        <p:spPr>
          <a:xfrm>
            <a:off x="182925" y="970700"/>
            <a:ext cx="4923900" cy="3743700"/>
          </a:xfrm>
          <a:prstGeom prst="rect">
            <a:avLst/>
          </a:prstGeom>
        </p:spPr>
        <p:txBody>
          <a:bodyPr anchorCtr="0" anchor="t" bIns="91425" lIns="91425" spcFirstLastPara="1" rIns="91425" wrap="square" tIns="91425">
            <a:normAutofit fontScale="90000"/>
          </a:bodyPr>
          <a:lstStyle/>
          <a:p>
            <a:r>
              <a:t>You can connect TikTok content to your product catalog and showcase it in your Flows and galleries, just like with other social media platforms. Once your TikTok account is connected to Flowbox, you can start collecting content in two ways:</a:t>
            </a:r>
          </a:p>
          <a:p>
            <a:r>
              <a:t>Username Source Type: Gather content that you have posted.</a:t>
            </a:r>
          </a:p>
          <a:p>
            <a:r>
              <a:t>Chrome Extension: Collect content from other creators using the URL/Chrome extension.</a:t>
            </a:r>
          </a:p>
          <a:p/>
          <a:p>
            <a:r>
              <a:t>What are the benefits?</a:t>
            </a:r>
          </a:p>
          <a:p>
            <a:r>
              <a:t>Streamlined Content Management: Automatically organise and moderate collected content.</a:t>
            </a:r>
          </a:p>
          <a:p>
            <a:r>
              <a:t>Enhanced Engagement: Tap into TikTok’s highly engaging UGC.</a:t>
            </a:r>
          </a:p>
          <a:p>
            <a:r>
              <a:t>Effortless Integration: Easy connection of your TikTok account to Flowbox.</a:t>
            </a:r>
          </a:p>
          <a:p>
            <a:r>
              <a:t>Diverse Content Sources: Gather your own posts and content from other creators.</a:t>
            </a:r>
          </a:p>
          <a:p>
            <a:r>
              <a:t>Duplicate Prevention: Avoid collecting the same content multiple times.</a:t>
            </a:r>
          </a:p>
          <a:p>
            <a:r>
              <a:t>Improved Brand Visibility: Leverage TikTok’s influence to boost brand discovery and sales.</a:t>
            </a:r>
          </a:p>
          <a:p/>
        </p:txBody>
      </p:sp>
      <p:pic>
        <p:nvPicPr>
          <p:cNvPr id="310" name="Google Shape;310;p36"/>
          <p:cNvPicPr preferRelativeResize="0"/>
          <p:nvPr/>
        </p:nvPicPr>
        <p:blipFill>
          <a:blip r:embed="rId4">
            <a:alphaModFix/>
          </a:blip>
          <a:stretch>
            <a:fillRect/>
          </a:stretch>
        </p:blipFill>
        <p:spPr>
          <a:xfrm>
            <a:off x="5618400" y="877079"/>
            <a:ext cx="2180700" cy="1914501"/>
          </a:xfrm>
          <a:prstGeom prst="rect">
            <a:avLst/>
          </a:prstGeom>
          <a:noFill/>
          <a:ln>
            <a:noFill/>
          </a:ln>
        </p:spPr>
      </p:pic>
      <p:sp>
        <p:nvSpPr>
          <p:cNvPr id="311" name="Google Shape;311;p36"/>
          <p:cNvSpPr/>
          <p:nvPr/>
        </p:nvSpPr>
        <p:spPr>
          <a:xfrm>
            <a:off x="0" y="4730525"/>
            <a:ext cx="9144000" cy="424200"/>
          </a:xfrm>
          <a:prstGeom prst="rect">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p:txBody>
      </p:sp>
      <p:sp>
        <p:nvSpPr>
          <p:cNvPr id="312" name="Google Shape;312;p36"/>
          <p:cNvSpPr txBox="1"/>
          <p:nvPr/>
        </p:nvSpPr>
        <p:spPr>
          <a:xfrm>
            <a:off x="4171113" y="4815375"/>
            <a:ext cx="2107500" cy="307800"/>
          </a:xfrm>
          <a:prstGeom prst="rect">
            <a:avLst/>
          </a:prstGeom>
          <a:noFill/>
          <a:ln>
            <a:noFill/>
          </a:ln>
        </p:spPr>
        <p:txBody>
          <a:bodyPr anchorCtr="0" anchor="t" bIns="91425" lIns="91425" spcFirstLastPara="1" rIns="91425" wrap="square" tIns="91425">
            <a:spAutoFit/>
          </a:bodyPr>
          <a:lstStyle/>
          <a:p>
            <a:r>
              <a:t>Brands worldwide use Flowbox: </a:t>
            </a:r>
          </a:p>
        </p:txBody>
      </p:sp>
      <p:pic>
        <p:nvPicPr>
          <p:cNvPr id="313" name="Google Shape;313;p36"/>
          <p:cNvPicPr preferRelativeResize="0"/>
          <p:nvPr/>
        </p:nvPicPr>
        <p:blipFill>
          <a:blip r:embed="rId5">
            <a:alphaModFix/>
          </a:blip>
          <a:stretch>
            <a:fillRect/>
          </a:stretch>
        </p:blipFill>
        <p:spPr>
          <a:xfrm>
            <a:off x="5933800" y="4767087"/>
            <a:ext cx="528350" cy="352250"/>
          </a:xfrm>
          <a:prstGeom prst="rect">
            <a:avLst/>
          </a:prstGeom>
          <a:noFill/>
          <a:ln>
            <a:noFill/>
          </a:ln>
        </p:spPr>
      </p:pic>
      <p:pic>
        <p:nvPicPr>
          <p:cNvPr id="314" name="Google Shape;314;p36"/>
          <p:cNvPicPr preferRelativeResize="0"/>
          <p:nvPr/>
        </p:nvPicPr>
        <p:blipFill>
          <a:blip r:embed="rId6">
            <a:alphaModFix/>
          </a:blip>
          <a:stretch>
            <a:fillRect/>
          </a:stretch>
        </p:blipFill>
        <p:spPr>
          <a:xfrm>
            <a:off x="517325" y="4816010"/>
            <a:ext cx="279000" cy="237145"/>
          </a:xfrm>
          <a:prstGeom prst="rect">
            <a:avLst/>
          </a:prstGeom>
          <a:noFill/>
          <a:ln>
            <a:noFill/>
          </a:ln>
        </p:spPr>
      </p:pic>
      <p:sp>
        <p:nvSpPr>
          <p:cNvPr id="315" name="Google Shape;315;p36"/>
          <p:cNvSpPr txBox="1"/>
          <p:nvPr/>
        </p:nvSpPr>
        <p:spPr>
          <a:xfrm>
            <a:off x="751375" y="4734863"/>
            <a:ext cx="1122600" cy="415500"/>
          </a:xfrm>
          <a:prstGeom prst="rect">
            <a:avLst/>
          </a:prstGeom>
          <a:noFill/>
          <a:ln>
            <a:noFill/>
          </a:ln>
        </p:spPr>
        <p:txBody>
          <a:bodyPr anchorCtr="0" anchor="t" bIns="91425" lIns="91425" spcFirstLastPara="1" rIns="91425" wrap="square" tIns="91425">
            <a:spAutoFit/>
          </a:bodyPr>
          <a:lstStyle/>
          <a:p>
            <a:r>
              <a:t>Flowbox is backed by Viking Venture, the leading Nordic software investor.</a:t>
            </a:r>
          </a:p>
        </p:txBody>
      </p:sp>
      <p:pic>
        <p:nvPicPr>
          <p:cNvPr id="316" name="Google Shape;316;p36"/>
          <p:cNvPicPr preferRelativeResize="0"/>
          <p:nvPr/>
        </p:nvPicPr>
        <p:blipFill>
          <a:blip r:embed="rId7">
            <a:alphaModFix/>
          </a:blip>
          <a:stretch>
            <a:fillRect/>
          </a:stretch>
        </p:blipFill>
        <p:spPr>
          <a:xfrm>
            <a:off x="1768849" y="4805524"/>
            <a:ext cx="508200" cy="288240"/>
          </a:xfrm>
          <a:prstGeom prst="rect">
            <a:avLst/>
          </a:prstGeom>
          <a:noFill/>
          <a:ln>
            <a:noFill/>
          </a:ln>
        </p:spPr>
      </p:pic>
      <p:pic>
        <p:nvPicPr>
          <p:cNvPr id="317" name="Google Shape;317;p36"/>
          <p:cNvPicPr preferRelativeResize="0"/>
          <p:nvPr/>
        </p:nvPicPr>
        <p:blipFill>
          <a:blip r:embed="rId8">
            <a:alphaModFix/>
          </a:blip>
          <a:stretch>
            <a:fillRect/>
          </a:stretch>
        </p:blipFill>
        <p:spPr>
          <a:xfrm>
            <a:off x="2380075" y="4832088"/>
            <a:ext cx="1061450" cy="234300"/>
          </a:xfrm>
          <a:prstGeom prst="rect">
            <a:avLst/>
          </a:prstGeom>
          <a:noFill/>
          <a:ln>
            <a:noFill/>
          </a:ln>
        </p:spPr>
      </p:pic>
      <p:pic>
        <p:nvPicPr>
          <p:cNvPr id="318" name="Google Shape;318;p36"/>
          <p:cNvPicPr preferRelativeResize="0"/>
          <p:nvPr/>
        </p:nvPicPr>
        <p:blipFill>
          <a:blip r:embed="rId9">
            <a:alphaModFix/>
          </a:blip>
          <a:stretch>
            <a:fillRect/>
          </a:stretch>
        </p:blipFill>
        <p:spPr>
          <a:xfrm>
            <a:off x="7899500" y="4899363"/>
            <a:ext cx="508201" cy="117621"/>
          </a:xfrm>
          <a:prstGeom prst="rect">
            <a:avLst/>
          </a:prstGeom>
          <a:noFill/>
          <a:ln>
            <a:noFill/>
          </a:ln>
        </p:spPr>
      </p:pic>
      <p:pic>
        <p:nvPicPr>
          <p:cNvPr id="319" name="Google Shape;319;p36"/>
          <p:cNvPicPr preferRelativeResize="0"/>
          <p:nvPr/>
        </p:nvPicPr>
        <p:blipFill>
          <a:blip r:embed="rId10">
            <a:alphaModFix/>
          </a:blip>
          <a:stretch>
            <a:fillRect/>
          </a:stretch>
        </p:blipFill>
        <p:spPr>
          <a:xfrm>
            <a:off x="8484500" y="4787550"/>
            <a:ext cx="545175" cy="363450"/>
          </a:xfrm>
          <a:prstGeom prst="rect">
            <a:avLst/>
          </a:prstGeom>
          <a:noFill/>
          <a:ln>
            <a:noFill/>
          </a:ln>
        </p:spPr>
      </p:pic>
      <p:pic>
        <p:nvPicPr>
          <p:cNvPr id="320" name="Google Shape;320;p36"/>
          <p:cNvPicPr preferRelativeResize="0"/>
          <p:nvPr/>
        </p:nvPicPr>
        <p:blipFill>
          <a:blip r:embed="rId11">
            <a:alphaModFix/>
          </a:blip>
          <a:stretch>
            <a:fillRect/>
          </a:stretch>
        </p:blipFill>
        <p:spPr>
          <a:xfrm>
            <a:off x="6608897" y="4938159"/>
            <a:ext cx="508200" cy="62254"/>
          </a:xfrm>
          <a:prstGeom prst="rect">
            <a:avLst/>
          </a:prstGeom>
          <a:noFill/>
          <a:ln>
            <a:noFill/>
          </a:ln>
        </p:spPr>
      </p:pic>
      <p:pic>
        <p:nvPicPr>
          <p:cNvPr id="321" name="Google Shape;321;p36"/>
          <p:cNvPicPr preferRelativeResize="0"/>
          <p:nvPr/>
        </p:nvPicPr>
        <p:blipFill>
          <a:blip r:embed="rId12">
            <a:alphaModFix/>
          </a:blip>
          <a:stretch>
            <a:fillRect/>
          </a:stretch>
        </p:blipFill>
        <p:spPr>
          <a:xfrm>
            <a:off x="7324875" y="4926950"/>
            <a:ext cx="338700" cy="84675"/>
          </a:xfrm>
          <a:prstGeom prst="rect">
            <a:avLst/>
          </a:prstGeom>
          <a:noFill/>
          <a:ln>
            <a:noFill/>
          </a:ln>
        </p:spPr>
      </p:pic>
      <p:sp>
        <p:nvSpPr>
          <p:cNvPr id="322" name="Google Shape;322;p36"/>
          <p:cNvSpPr/>
          <p:nvPr/>
        </p:nvSpPr>
        <p:spPr>
          <a:xfrm>
            <a:off x="113425" y="4845625"/>
            <a:ext cx="177900" cy="177900"/>
          </a:xfrm>
          <a:prstGeom prst="ellipse">
            <a:avLst/>
          </a:prstGeom>
          <a:solidFill>
            <a:srgbClr val="F2F2F2"/>
          </a:solidFill>
          <a:ln>
            <a:noFill/>
          </a:ln>
        </p:spPr>
        <p:txBody>
          <a:bodyPr anchorCtr="0" anchor="ctr" bIns="0" lIns="0" spcFirstLastPara="1" rIns="0" wrap="square" tIns="0">
            <a:noAutofit/>
          </a:bodyPr>
          <a:lstStyle/>
          <a:p>
            <a:r>
              <a:t>17</a:t>
            </a:r>
          </a:p>
        </p:txBody>
      </p:sp>
      <p:pic>
        <p:nvPicPr>
          <p:cNvPr id="323" name="Google Shape;323;p36"/>
          <p:cNvPicPr preferRelativeResize="0"/>
          <p:nvPr/>
        </p:nvPicPr>
        <p:blipFill>
          <a:blip r:embed="rId13">
            <a:alphaModFix/>
          </a:blip>
          <a:stretch>
            <a:fillRect/>
          </a:stretch>
        </p:blipFill>
        <p:spPr>
          <a:xfrm>
            <a:off x="5933788" y="2646325"/>
            <a:ext cx="2969201" cy="17049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p:txBody>
      </p:sp>
      <p:pic>
        <p:nvPicPr>
          <p:cNvPr id="329" name="Google Shape;329;p3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330" name="Google Shape;330;p37"/>
          <p:cNvSpPr txBox="1"/>
          <p:nvPr>
            <p:ph type="ctrTitle"/>
          </p:nvPr>
        </p:nvSpPr>
        <p:spPr>
          <a:xfrm>
            <a:off x="291325" y="90125"/>
            <a:ext cx="2225700" cy="456600"/>
          </a:xfrm>
          <a:prstGeom prst="rect">
            <a:avLst/>
          </a:prstGeom>
        </p:spPr>
        <p:txBody>
          <a:bodyPr anchorCtr="0" anchor="b" bIns="91425" lIns="91425" spcFirstLastPara="1" rIns="91425" wrap="square" tIns="91425">
            <a:normAutofit/>
          </a:bodyPr>
          <a:lstStyle/>
          <a:p>
            <a:r>
              <a:t>Ratings and reviews</a:t>
            </a:r>
          </a:p>
        </p:txBody>
      </p:sp>
      <p:sp>
        <p:nvSpPr>
          <p:cNvPr id="331" name="Google Shape;331;p3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r>
              <a:t>18</a:t>
            </a:r>
          </a:p>
        </p:txBody>
      </p:sp>
      <p:sp>
        <p:nvSpPr>
          <p:cNvPr id="332" name="Google Shape;332;p37"/>
          <p:cNvSpPr txBox="1"/>
          <p:nvPr>
            <p:ph type="ctrTitle"/>
          </p:nvPr>
        </p:nvSpPr>
        <p:spPr>
          <a:xfrm>
            <a:off x="291325" y="474800"/>
            <a:ext cx="4998300" cy="456600"/>
          </a:xfrm>
          <a:prstGeom prst="rect">
            <a:avLst/>
          </a:prstGeom>
        </p:spPr>
        <p:txBody>
          <a:bodyPr anchorCtr="0" anchor="t" bIns="91425" lIns="91425" spcFirstLastPara="1" rIns="91425" wrap="square" tIns="91425">
            <a:normAutofit/>
          </a:bodyPr>
          <a:lstStyle/>
          <a:p>
            <a:r>
              <a:t>Add-on</a:t>
            </a:r>
          </a:p>
        </p:txBody>
      </p:sp>
      <p:pic>
        <p:nvPicPr>
          <p:cNvPr id="333" name="Google Shape;333;p37"/>
          <p:cNvPicPr preferRelativeResize="0"/>
          <p:nvPr/>
        </p:nvPicPr>
        <p:blipFill>
          <a:blip r:embed="rId4">
            <a:alphaModFix/>
          </a:blip>
          <a:stretch>
            <a:fillRect/>
          </a:stretch>
        </p:blipFill>
        <p:spPr>
          <a:xfrm>
            <a:off x="4735795" y="1774285"/>
            <a:ext cx="3789867" cy="2706404"/>
          </a:xfrm>
          <a:prstGeom prst="rect">
            <a:avLst/>
          </a:prstGeom>
          <a:noFill/>
          <a:ln>
            <a:noFill/>
          </a:ln>
        </p:spPr>
      </p:pic>
      <p:pic>
        <p:nvPicPr>
          <p:cNvPr id="334" name="Google Shape;334;p37"/>
          <p:cNvPicPr preferRelativeResize="0"/>
          <p:nvPr/>
        </p:nvPicPr>
        <p:blipFill>
          <a:blip r:embed="rId5">
            <a:alphaModFix/>
          </a:blip>
          <a:stretch>
            <a:fillRect/>
          </a:stretch>
        </p:blipFill>
        <p:spPr>
          <a:xfrm>
            <a:off x="1407352" y="1588035"/>
            <a:ext cx="4065025" cy="2463597"/>
          </a:xfrm>
          <a:prstGeom prst="rect">
            <a:avLst/>
          </a:prstGeom>
          <a:noFill/>
          <a:ln>
            <a:noFill/>
          </a:ln>
        </p:spPr>
      </p:pic>
      <p:pic>
        <p:nvPicPr>
          <p:cNvPr id="335" name="Google Shape;335;p37"/>
          <p:cNvPicPr preferRelativeResize="0"/>
          <p:nvPr/>
        </p:nvPicPr>
        <p:blipFill>
          <a:blip r:embed="rId6">
            <a:alphaModFix/>
          </a:blip>
          <a:stretch>
            <a:fillRect/>
          </a:stretch>
        </p:blipFill>
        <p:spPr>
          <a:xfrm>
            <a:off x="618488" y="1451948"/>
            <a:ext cx="1492216" cy="3081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